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 nie brak dokumentów, tylko czas dostępu i pewność wersji. Każde „gdzie to jest?” kosztuje dwie osoby — pytającego i tę, która odpowiada.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Trzy drogi do dokumentu: przeglądanie, pytanie o treść, wyszukiwanie po opisie. Pracownik wybiera bliższą sobie.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Tu jest różnica wobec chmury: pytanie o dokument kadrowy nie wychodzi z organizacji. Przez sieć idzie tylko ruch przeglądarka–serwer.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Jak cytowanie w publikacji — każde twierdzenie sprawdzalne w dwie sekundy. Warunek konieczny przy procedurach medycznych.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Liczby z działającego wdrożenia, nie z folderu producenta. Pojemność ogranicza dysk, nie wydajność. Urządzenie wielkości książki, pobór prądu jak stacja robocza.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Sprawdzianem jest osoba, która nie chce uczyć się nowego programu. Kto umie korzystać z wyszukiwarki, umie korzystać z tego.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Ten sam system sprawdzi się wszędzie tam, gdzie jest duży zasób dokumentów wewnętrznych.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Najczęstszy powód, dla którego takie systemy umierają, to pusty start. Ostatni punkt to plan — tych elementów nie ma jeszcze w wersji pokazywanej dziś.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Nie proszę o decyzję zakupową, tylko o test na własnych dokumentach. Jeśli po dwóch tygodniach kadry powiedzą, że to nie pomaga — rozstajemy się bez kosztów.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Zostawiam wizytówki. Do Piotra dzwonicie w sprawie wyceny i umowy, do mnie — gdy pytanie jest techniczne. Odpowiadamy tego samego dnia.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" y="2343150"/>
            <a:ext cx="838200" cy="57150"/>
          </a:xfrm>
          <a:prstGeom prst="rect">
            <a:avLst/>
          </a:prstGeom>
          <a:solidFill>
            <a:srgbClr val="1FC8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2686050"/>
            <a:ext cx="9525000" cy="857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4800" b="1">
                <a:solidFill>
                  <a:srgbClr val="FFFFFF"/>
                </a:solidFill>
                <a:latin typeface="Segoe UI"/>
              </a:rPr>
              <a:t>ZCO Document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3733800"/>
            <a:ext cx="8191500" cy="76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45000"/>
              </a:lnSpc>
            </a:pPr>
            <a:r>
              <a:rPr sz="1900" b="0">
                <a:solidFill>
                  <a:srgbClr val="1FC8BA"/>
                </a:solidFill>
                <a:latin typeface="Segoe UI"/>
              </a:rPr>
              <a:t>Pytasz jak człowieka. Odpowiada z Waszych dokumentów.</a:t>
            </a:r>
          </a:p>
          <a:p>
            <a:pPr>
              <a:lnSpc>
                <a:spcPct val="145000"/>
              </a:lnSpc>
            </a:pPr>
            <a:r>
              <a:rPr sz="1900" b="0">
                <a:solidFill>
                  <a:srgbClr val="1FC8BA"/>
                </a:solidFill>
                <a:latin typeface="Segoe UI"/>
              </a:rPr>
              <a:t>Nic nie wychodzi poza szpital.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5924550"/>
            <a:ext cx="6667500" cy="476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200" b="1">
                <a:solidFill>
                  <a:srgbClr val="E2E8F0"/>
                </a:solidFill>
                <a:latin typeface="Segoe UI"/>
              </a:rPr>
              <a:t>Polmedi Group sp. z o.o. · Poznań</a:t>
            </a:r>
          </a:p>
          <a:p>
            <a:pPr>
              <a:lnSpc>
                <a:spcPct val="125000"/>
              </a:lnSpc>
            </a:pPr>
            <a:r>
              <a:rPr sz="1200" b="0">
                <a:solidFill>
                  <a:srgbClr val="94A3B8"/>
                </a:solidFill>
                <a:latin typeface="Segoe UI"/>
              </a:rPr>
              <a:t>Wersja aplikacji 1.0.2 · 30 lipca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457200"/>
            <a:ext cx="10477500" cy="571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3000" b="1">
                <a:solidFill>
                  <a:srgbClr val="1D2A4D"/>
                </a:solidFill>
                <a:latin typeface="Segoe UI"/>
              </a:rPr>
              <a:t>Problem, który znają wszyscy</a:t>
            </a:r>
          </a:p>
        </p:txBody>
      </p:sp>
      <p:sp>
        <p:nvSpPr>
          <p:cNvPr id="3" name="Rectangle 2"/>
          <p:cNvSpPr/>
          <p:nvPr/>
        </p:nvSpPr>
        <p:spPr>
          <a:xfrm>
            <a:off x="609600" y="1123950"/>
            <a:ext cx="609600" cy="47625"/>
          </a:xfrm>
          <a:prstGeom prst="rect">
            <a:avLst/>
          </a:prstGeom>
          <a:solidFill>
            <a:srgbClr val="1FC8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6534150"/>
            <a:ext cx="47625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950" b="0">
                <a:solidFill>
                  <a:srgbClr val="94A3B8"/>
                </a:solidFill>
                <a:latin typeface="Segoe UI"/>
              </a:rPr>
              <a:t>ZCO Document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39500" y="6534150"/>
            <a:ext cx="5715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50" b="0">
                <a:solidFill>
                  <a:srgbClr val="94A3B8"/>
                </a:solidFill>
                <a:latin typeface="Segoe UI"/>
              </a:rPr>
              <a:t>2</a:t>
            </a:r>
          </a:p>
        </p:txBody>
      </p:sp>
      <p:sp>
        <p:nvSpPr>
          <p:cNvPr id="6" name="Oval 5"/>
          <p:cNvSpPr/>
          <p:nvPr/>
        </p:nvSpPr>
        <p:spPr>
          <a:xfrm>
            <a:off x="609600" y="1695450"/>
            <a:ext cx="85725" cy="85725"/>
          </a:xfrm>
          <a:prstGeom prst="ellipse">
            <a:avLst/>
          </a:prstGeom>
          <a:solidFill>
            <a:srgbClr val="0F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8200" y="1619250"/>
            <a:ext cx="10744200" cy="285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700" b="0">
                <a:solidFill>
                  <a:srgbClr val="1E293B"/>
                </a:solidFill>
                <a:latin typeface="Segoe UI"/>
              </a:rPr>
              <a:t>Dokument jest — tylko nie wiadomo, w którym folderze i która wersja obowiązuje</a:t>
            </a:r>
          </a:p>
        </p:txBody>
      </p:sp>
      <p:sp>
        <p:nvSpPr>
          <p:cNvPr id="8" name="Oval 7"/>
          <p:cNvSpPr/>
          <p:nvPr/>
        </p:nvSpPr>
        <p:spPr>
          <a:xfrm>
            <a:off x="609600" y="2133600"/>
            <a:ext cx="85725" cy="85725"/>
          </a:xfrm>
          <a:prstGeom prst="ellipse">
            <a:avLst/>
          </a:prstGeom>
          <a:solidFill>
            <a:srgbClr val="0F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8200" y="2057400"/>
            <a:ext cx="10744200" cy="285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700" b="0">
                <a:solidFill>
                  <a:srgbClr val="1E293B"/>
                </a:solidFill>
                <a:latin typeface="Segoe UI"/>
              </a:rPr>
              <a:t>Nowy pracownik pyta koleżankę zamiast szukać w regulaminie</a:t>
            </a:r>
          </a:p>
        </p:txBody>
      </p:sp>
      <p:sp>
        <p:nvSpPr>
          <p:cNvPr id="10" name="Oval 9"/>
          <p:cNvSpPr/>
          <p:nvPr/>
        </p:nvSpPr>
        <p:spPr>
          <a:xfrm>
            <a:off x="609600" y="2571750"/>
            <a:ext cx="85725" cy="85725"/>
          </a:xfrm>
          <a:prstGeom prst="ellipse">
            <a:avLst/>
          </a:prstGeom>
          <a:solidFill>
            <a:srgbClr val="0F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8200" y="2495550"/>
            <a:ext cx="10744200" cy="285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700" b="0">
                <a:solidFill>
                  <a:srgbClr val="1E293B"/>
                </a:solidFill>
                <a:latin typeface="Segoe UI"/>
              </a:rPr>
              <a:t>Ta sama odpowiedź udzielana dziesiątki razy przez kadry i dział jakości</a:t>
            </a:r>
          </a:p>
        </p:txBody>
      </p:sp>
      <p:sp>
        <p:nvSpPr>
          <p:cNvPr id="12" name="Oval 11"/>
          <p:cNvSpPr/>
          <p:nvPr/>
        </p:nvSpPr>
        <p:spPr>
          <a:xfrm>
            <a:off x="609600" y="3009900"/>
            <a:ext cx="85725" cy="85725"/>
          </a:xfrm>
          <a:prstGeom prst="ellipse">
            <a:avLst/>
          </a:prstGeom>
          <a:solidFill>
            <a:srgbClr val="0F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8200" y="2933700"/>
            <a:ext cx="10744200" cy="285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700" b="0">
                <a:solidFill>
                  <a:srgbClr val="1E293B"/>
                </a:solidFill>
                <a:latin typeface="Segoe UI"/>
              </a:rPr>
              <a:t>Przy akredytacji i kontroli liczy się czas dotarcia do właściwego zapisu</a:t>
            </a:r>
          </a:p>
        </p:txBody>
      </p:sp>
      <p:sp>
        <p:nvSpPr>
          <p:cNvPr id="14" name="Oval 13"/>
          <p:cNvSpPr/>
          <p:nvPr/>
        </p:nvSpPr>
        <p:spPr>
          <a:xfrm>
            <a:off x="609600" y="3448050"/>
            <a:ext cx="85725" cy="85725"/>
          </a:xfrm>
          <a:prstGeom prst="ellipse">
            <a:avLst/>
          </a:prstGeom>
          <a:solidFill>
            <a:srgbClr val="0F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8200" y="3371850"/>
            <a:ext cx="10744200" cy="285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700" b="0">
                <a:solidFill>
                  <a:srgbClr val="1E293B"/>
                </a:solidFill>
                <a:latin typeface="Segoe UI"/>
              </a:rPr>
              <a:t>Chmura odpada: dokumenty wewnętrzne nie mogą trafiać do zewnętrznego dostawcy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9600" y="5676900"/>
            <a:ext cx="10972800" cy="590550"/>
          </a:xfrm>
          <a:prstGeom prst="roundRect">
            <a:avLst>
              <a:gd name="adj" fmla="val 6000"/>
            </a:avLst>
          </a:prstGeom>
          <a:solidFill>
            <a:srgbClr val="1D2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9550" tIns="0"/>
          <a:lstStyle/>
          <a:p>
            <a:pPr algn="l">
              <a:lnSpc>
                <a:spcPct val="125000"/>
              </a:lnSpc>
            </a:pPr>
            <a:r>
              <a:rPr sz="1650" b="1">
                <a:solidFill>
                  <a:srgbClr val="FFFFFF"/>
                </a:solidFill>
                <a:latin typeface="Segoe UI"/>
              </a:rPr>
              <a:t>Wiedza jest w dokumentach. Problemem jest droga do niej.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9600" y="5676900"/>
            <a:ext cx="57150" cy="590550"/>
          </a:xfrm>
          <a:prstGeom prst="rect">
            <a:avLst/>
          </a:prstGeom>
          <a:solidFill>
            <a:srgbClr val="1FC8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457200"/>
            <a:ext cx="10477500" cy="571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3000" b="1">
                <a:solidFill>
                  <a:srgbClr val="1D2A4D"/>
                </a:solidFill>
                <a:latin typeface="Segoe UI"/>
              </a:rPr>
              <a:t>Co dostajecie</a:t>
            </a:r>
          </a:p>
        </p:txBody>
      </p:sp>
      <p:sp>
        <p:nvSpPr>
          <p:cNvPr id="3" name="Rectangle 2"/>
          <p:cNvSpPr/>
          <p:nvPr/>
        </p:nvSpPr>
        <p:spPr>
          <a:xfrm>
            <a:off x="609600" y="1123950"/>
            <a:ext cx="609600" cy="47625"/>
          </a:xfrm>
          <a:prstGeom prst="rect">
            <a:avLst/>
          </a:prstGeom>
          <a:solidFill>
            <a:srgbClr val="1FC8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6534150"/>
            <a:ext cx="47625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950" b="0">
                <a:solidFill>
                  <a:srgbClr val="94A3B8"/>
                </a:solidFill>
                <a:latin typeface="Segoe UI"/>
              </a:rPr>
              <a:t>ZCO Document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39500" y="6534150"/>
            <a:ext cx="5715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50" b="0">
                <a:solidFill>
                  <a:srgbClr val="94A3B8"/>
                </a:solidFill>
                <a:latin typeface="Segoe UI"/>
              </a:rPr>
              <a:t>3</a:t>
            </a:r>
          </a:p>
        </p:txBody>
      </p:sp>
      <p:sp>
        <p:nvSpPr>
          <p:cNvPr id="6" name="Oval 5"/>
          <p:cNvSpPr/>
          <p:nvPr/>
        </p:nvSpPr>
        <p:spPr>
          <a:xfrm>
            <a:off x="609600" y="1695450"/>
            <a:ext cx="85725" cy="85725"/>
          </a:xfrm>
          <a:prstGeom prst="ellipse">
            <a:avLst/>
          </a:prstGeom>
          <a:solidFill>
            <a:srgbClr val="0F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8200" y="1619250"/>
            <a:ext cx="5676900" cy="285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700" b="0">
                <a:solidFill>
                  <a:srgbClr val="1E293B"/>
                </a:solidFill>
                <a:latin typeface="Segoe UI"/>
              </a:rPr>
              <a:t>Repozytorium — foldery, uprawnienia, statusy przetwarzania</a:t>
            </a:r>
          </a:p>
        </p:txBody>
      </p:sp>
      <p:sp>
        <p:nvSpPr>
          <p:cNvPr id="8" name="Oval 7"/>
          <p:cNvSpPr/>
          <p:nvPr/>
        </p:nvSpPr>
        <p:spPr>
          <a:xfrm>
            <a:off x="609600" y="2419350"/>
            <a:ext cx="85725" cy="85725"/>
          </a:xfrm>
          <a:prstGeom prst="ellipse">
            <a:avLst/>
          </a:prstGeom>
          <a:solidFill>
            <a:srgbClr val="0F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8200" y="2343150"/>
            <a:ext cx="5676900" cy="285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700" b="0">
                <a:solidFill>
                  <a:srgbClr val="1E293B"/>
                </a:solidFill>
                <a:latin typeface="Segoe UI"/>
              </a:rPr>
              <a:t>Baza wiedzy — pytanie zwykłym językiem, odpowiedź z odnośnikami do stron</a:t>
            </a:r>
          </a:p>
        </p:txBody>
      </p:sp>
      <p:sp>
        <p:nvSpPr>
          <p:cNvPr id="10" name="Oval 9"/>
          <p:cNvSpPr/>
          <p:nvPr/>
        </p:nvSpPr>
        <p:spPr>
          <a:xfrm>
            <a:off x="609600" y="3143250"/>
            <a:ext cx="85725" cy="85725"/>
          </a:xfrm>
          <a:prstGeom prst="ellipse">
            <a:avLst/>
          </a:prstGeom>
          <a:solidFill>
            <a:srgbClr val="0F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8200" y="3067050"/>
            <a:ext cx="5676900" cy="285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700" b="0">
                <a:solidFill>
                  <a:srgbClr val="1E293B"/>
                </a:solidFill>
                <a:latin typeface="Segoe UI"/>
              </a:rPr>
              <a:t>Wyszukiwarka po polach — „zarządzenia z 2024”, „procedury zatwierdzone przez…”</a:t>
            </a:r>
          </a:p>
        </p:txBody>
      </p:sp>
      <p:sp>
        <p:nvSpPr>
          <p:cNvPr id="12" name="Oval 11"/>
          <p:cNvSpPr/>
          <p:nvPr/>
        </p:nvSpPr>
        <p:spPr>
          <a:xfrm>
            <a:off x="609600" y="3867150"/>
            <a:ext cx="85725" cy="85725"/>
          </a:xfrm>
          <a:prstGeom prst="ellipse">
            <a:avLst/>
          </a:prstGeom>
          <a:solidFill>
            <a:srgbClr val="0F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8200" y="3790950"/>
            <a:ext cx="5676900" cy="285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700" b="0">
                <a:solidFill>
                  <a:srgbClr val="1E293B"/>
                </a:solidFill>
                <a:latin typeface="Segoe UI"/>
              </a:rPr>
              <a:t>Automatyczne rozpoznawanie — rodzaj pisma, numer, data, osoba zatwierdzająca</a:t>
            </a:r>
          </a:p>
        </p:txBody>
      </p:sp>
      <p:sp>
        <p:nvSpPr>
          <p:cNvPr id="14" name="Oval 13"/>
          <p:cNvSpPr/>
          <p:nvPr/>
        </p:nvSpPr>
        <p:spPr>
          <a:xfrm>
            <a:off x="609600" y="4591050"/>
            <a:ext cx="85725" cy="85725"/>
          </a:xfrm>
          <a:prstGeom prst="ellipse">
            <a:avLst/>
          </a:prstGeom>
          <a:solidFill>
            <a:srgbClr val="0F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8200" y="4514850"/>
            <a:ext cx="5676900" cy="285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700" b="0">
                <a:solidFill>
                  <a:srgbClr val="1E293B"/>
                </a:solidFill>
                <a:latin typeface="Segoe UI"/>
              </a:rPr>
              <a:t>Instrukcja obsługi wbudowana w aplikację</a:t>
            </a:r>
          </a:p>
        </p:txBody>
      </p:sp>
      <p:pic>
        <p:nvPicPr>
          <p:cNvPr id="16" name="Picture 15" descr="a02-plik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7500" y="1676400"/>
            <a:ext cx="4914900" cy="3071812"/>
          </a:xfrm>
          <a:prstGeom prst="rect">
            <a:avLst/>
          </a:prstGeom>
        </p:spPr>
      </p:pic>
      <p:sp>
        <p:nvSpPr>
          <p:cNvPr id="17" name="Rounded Rectangle 16"/>
          <p:cNvSpPr/>
          <p:nvPr/>
        </p:nvSpPr>
        <p:spPr>
          <a:xfrm>
            <a:off x="609600" y="5676900"/>
            <a:ext cx="10972800" cy="590550"/>
          </a:xfrm>
          <a:prstGeom prst="roundRect">
            <a:avLst>
              <a:gd name="adj" fmla="val 6000"/>
            </a:avLst>
          </a:prstGeom>
          <a:solidFill>
            <a:srgbClr val="1D2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9550" tIns="0"/>
          <a:lstStyle/>
          <a:p>
            <a:pPr algn="l">
              <a:lnSpc>
                <a:spcPct val="125000"/>
              </a:lnSpc>
            </a:pPr>
            <a:r>
              <a:rPr sz="1650" b="1">
                <a:solidFill>
                  <a:srgbClr val="FFFFFF"/>
                </a:solidFill>
                <a:latin typeface="Segoe UI"/>
              </a:rPr>
              <a:t>Trzy drogi do dokumentu — pracownik wybiera tę, która jest mu bliższa.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9600" y="5676900"/>
            <a:ext cx="57150" cy="590550"/>
          </a:xfrm>
          <a:prstGeom prst="rect">
            <a:avLst/>
          </a:prstGeom>
          <a:solidFill>
            <a:srgbClr val="1FC8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457200"/>
            <a:ext cx="10477500" cy="571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3000" b="1">
                <a:solidFill>
                  <a:srgbClr val="1D2A4D"/>
                </a:solidFill>
                <a:latin typeface="Segoe UI"/>
              </a:rPr>
              <a:t>Bezpieczeństwo i prywatność</a:t>
            </a:r>
          </a:p>
        </p:txBody>
      </p:sp>
      <p:sp>
        <p:nvSpPr>
          <p:cNvPr id="3" name="Rectangle 2"/>
          <p:cNvSpPr/>
          <p:nvPr/>
        </p:nvSpPr>
        <p:spPr>
          <a:xfrm>
            <a:off x="609600" y="1123950"/>
            <a:ext cx="609600" cy="47625"/>
          </a:xfrm>
          <a:prstGeom prst="rect">
            <a:avLst/>
          </a:prstGeom>
          <a:solidFill>
            <a:srgbClr val="1FC8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6534150"/>
            <a:ext cx="47625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950" b="0">
                <a:solidFill>
                  <a:srgbClr val="94A3B8"/>
                </a:solidFill>
                <a:latin typeface="Segoe UI"/>
              </a:rPr>
              <a:t>ZCO Document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39500" y="6534150"/>
            <a:ext cx="5715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50" b="0">
                <a:solidFill>
                  <a:srgbClr val="94A3B8"/>
                </a:solidFill>
                <a:latin typeface="Segoe UI"/>
              </a:rPr>
              <a:t>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9600" y="1619250"/>
            <a:ext cx="7620000" cy="1809750"/>
          </a:xfrm>
          <a:prstGeom prst="roundRect">
            <a:avLst>
              <a:gd name="adj" fmla="val 6000"/>
            </a:avLst>
          </a:prstGeom>
          <a:solidFill>
            <a:srgbClr val="1D2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0100" y="1790700"/>
            <a:ext cx="47625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100" b="1">
                <a:solidFill>
                  <a:srgbClr val="1FC8BA"/>
                </a:solidFill>
                <a:latin typeface="Segoe UI"/>
              </a:rPr>
              <a:t>SZPITAL · WASZA SERWEROWNIA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0100" y="2114550"/>
            <a:ext cx="2336800" cy="1123950"/>
          </a:xfrm>
          <a:prstGeom prst="roundRect">
            <a:avLst>
              <a:gd name="adj" fmla="val 6000"/>
            </a:avLst>
          </a:prstGeom>
          <a:solidFill>
            <a:srgbClr val="2A3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52500" y="2286000"/>
            <a:ext cx="2032000" cy="857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350" b="1">
                <a:solidFill>
                  <a:srgbClr val="FFFFFF"/>
                </a:solidFill>
                <a:latin typeface="Segoe UI"/>
              </a:rPr>
              <a:t>Aplikacja</a:t>
            </a:r>
          </a:p>
          <a:p>
            <a:pPr>
              <a:lnSpc>
                <a:spcPct val="130000"/>
              </a:lnSpc>
            </a:pPr>
            <a:r>
              <a:rPr sz="1050" b="0">
                <a:solidFill>
                  <a:srgbClr val="CBD5E1"/>
                </a:solidFill>
                <a:latin typeface="Segoe UI"/>
              </a:rPr>
              <a:t>przeglądarka pracownika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51200" y="2114550"/>
            <a:ext cx="2336800" cy="1123950"/>
          </a:xfrm>
          <a:prstGeom prst="roundRect">
            <a:avLst>
              <a:gd name="adj" fmla="val 6000"/>
            </a:avLst>
          </a:prstGeom>
          <a:solidFill>
            <a:srgbClr val="2A3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03600" y="2286000"/>
            <a:ext cx="2032000" cy="857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350" b="1">
                <a:solidFill>
                  <a:srgbClr val="FFFFFF"/>
                </a:solidFill>
                <a:latin typeface="Segoe UI"/>
              </a:rPr>
              <a:t>Model językowy</a:t>
            </a:r>
          </a:p>
          <a:p>
            <a:pPr>
              <a:lnSpc>
                <a:spcPct val="130000"/>
              </a:lnSpc>
            </a:pPr>
            <a:r>
              <a:rPr sz="1050" b="0">
                <a:solidFill>
                  <a:srgbClr val="CBD5E1"/>
                </a:solidFill>
                <a:latin typeface="Segoe UI"/>
              </a:rPr>
              <a:t>działa na Waszym urządzeniu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702300" y="2114550"/>
            <a:ext cx="2336800" cy="1123950"/>
          </a:xfrm>
          <a:prstGeom prst="roundRect">
            <a:avLst>
              <a:gd name="adj" fmla="val 6000"/>
            </a:avLst>
          </a:prstGeom>
          <a:solidFill>
            <a:srgbClr val="2A3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854700" y="2286000"/>
            <a:ext cx="2032000" cy="857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350" b="1">
                <a:solidFill>
                  <a:srgbClr val="FFFFFF"/>
                </a:solidFill>
                <a:latin typeface="Segoe UI"/>
              </a:rPr>
              <a:t>Dokumenty i indeks</a:t>
            </a:r>
          </a:p>
          <a:p>
            <a:pPr>
              <a:lnSpc>
                <a:spcPct val="130000"/>
              </a:lnSpc>
            </a:pPr>
            <a:r>
              <a:rPr sz="1050" b="0">
                <a:solidFill>
                  <a:srgbClr val="CBD5E1"/>
                </a:solidFill>
                <a:latin typeface="Segoe UI"/>
              </a:rPr>
              <a:t>dysk w serwerowni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724900" y="1847850"/>
            <a:ext cx="0" cy="914400"/>
          </a:xfrm>
          <a:prstGeom prst="rect">
            <a:avLst/>
          </a:prstGeom>
          <a:ln w="38100">
            <a:solidFill>
              <a:srgbClr val="0F9B8E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0" y="2876550"/>
            <a:ext cx="990600" cy="476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950" b="1">
                <a:solidFill>
                  <a:srgbClr val="0F9B8E"/>
                </a:solidFill>
                <a:latin typeface="Segoe UI"/>
              </a:rPr>
              <a:t>brak połączenia z usługami zewnętrznymi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239250" y="1619250"/>
            <a:ext cx="2343150" cy="180975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90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91650" y="2057400"/>
            <a:ext cx="2038350" cy="1143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1">
                <a:solidFill>
                  <a:srgbClr val="1D2A4D"/>
                </a:solidFill>
                <a:latin typeface="Segoe UI"/>
              </a:rPr>
              <a:t>Internet</a:t>
            </a:r>
          </a:p>
          <a:p>
            <a:pPr algn="ctr">
              <a:lnSpc>
                <a:spcPct val="135000"/>
              </a:lnSpc>
            </a:pPr>
            <a:r>
              <a:rPr sz="1050" b="0">
                <a:solidFill>
                  <a:srgbClr val="1E293B"/>
                </a:solidFill>
                <a:latin typeface="Segoe UI"/>
              </a:rPr>
              <a:t>nie wychodzi tu żaden dokument, fragment ani pytanie</a:t>
            </a:r>
          </a:p>
        </p:txBody>
      </p:sp>
      <p:sp>
        <p:nvSpPr>
          <p:cNvPr id="18" name="Oval 17"/>
          <p:cNvSpPr/>
          <p:nvPr/>
        </p:nvSpPr>
        <p:spPr>
          <a:xfrm>
            <a:off x="609600" y="3810000"/>
            <a:ext cx="85725" cy="85725"/>
          </a:xfrm>
          <a:prstGeom prst="ellipse">
            <a:avLst/>
          </a:prstGeom>
          <a:solidFill>
            <a:srgbClr val="0F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8200" y="3733800"/>
            <a:ext cx="10744200" cy="285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700" b="0">
                <a:solidFill>
                  <a:srgbClr val="1E293B"/>
                </a:solidFill>
                <a:latin typeface="Segoe UI"/>
              </a:rPr>
              <a:t>Dostęp do folderów nadawany rolom — użytkownik widzi tylko swoje, także w czacie</a:t>
            </a:r>
          </a:p>
        </p:txBody>
      </p:sp>
      <p:sp>
        <p:nvSpPr>
          <p:cNvPr id="20" name="Oval 19"/>
          <p:cNvSpPr/>
          <p:nvPr/>
        </p:nvSpPr>
        <p:spPr>
          <a:xfrm>
            <a:off x="609600" y="4248150"/>
            <a:ext cx="85725" cy="85725"/>
          </a:xfrm>
          <a:prstGeom prst="ellipse">
            <a:avLst/>
          </a:prstGeom>
          <a:solidFill>
            <a:srgbClr val="0F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8200" y="4171950"/>
            <a:ext cx="10744200" cy="285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700" b="0">
                <a:solidFill>
                  <a:srgbClr val="1E293B"/>
                </a:solidFill>
                <a:latin typeface="Segoe UI"/>
              </a:rPr>
              <a:t>Historia pytań prywatna; administrator widzi statystyki, nie cudze rozmowy</a:t>
            </a:r>
          </a:p>
        </p:txBody>
      </p:sp>
      <p:sp>
        <p:nvSpPr>
          <p:cNvPr id="22" name="Oval 21"/>
          <p:cNvSpPr/>
          <p:nvPr/>
        </p:nvSpPr>
        <p:spPr>
          <a:xfrm>
            <a:off x="609600" y="4686300"/>
            <a:ext cx="85725" cy="85725"/>
          </a:xfrm>
          <a:prstGeom prst="ellipse">
            <a:avLst/>
          </a:prstGeom>
          <a:solidFill>
            <a:srgbClr val="0F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8200" y="4610100"/>
            <a:ext cx="10744200" cy="285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700" b="0">
                <a:solidFill>
                  <a:srgbClr val="1E293B"/>
                </a:solidFill>
                <a:latin typeface="Segoe UI"/>
              </a:rPr>
              <a:t>Automatyczne wylogowanie po bezczynności, zmiana hasła za potwierdzeniem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09600" y="5676900"/>
            <a:ext cx="10972800" cy="590550"/>
          </a:xfrm>
          <a:prstGeom prst="roundRect">
            <a:avLst>
              <a:gd name="adj" fmla="val 6000"/>
            </a:avLst>
          </a:prstGeom>
          <a:solidFill>
            <a:srgbClr val="1D2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9550" tIns="0"/>
          <a:lstStyle/>
          <a:p>
            <a:pPr algn="l">
              <a:lnSpc>
                <a:spcPct val="125000"/>
              </a:lnSpc>
            </a:pPr>
            <a:r>
              <a:rPr sz="1650" b="1">
                <a:solidFill>
                  <a:srgbClr val="FFFFFF"/>
                </a:solidFill>
                <a:latin typeface="Segoe UI"/>
              </a:rPr>
              <a:t>Żaden dokument, fragment ani pytanie nie opuszcza Waszej sieci.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09600" y="5676900"/>
            <a:ext cx="57150" cy="590550"/>
          </a:xfrm>
          <a:prstGeom prst="rect">
            <a:avLst/>
          </a:prstGeom>
          <a:solidFill>
            <a:srgbClr val="1FC8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457200"/>
            <a:ext cx="10477500" cy="571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3000" b="1">
                <a:solidFill>
                  <a:srgbClr val="1D2A4D"/>
                </a:solidFill>
                <a:latin typeface="Segoe UI"/>
              </a:rPr>
              <a:t>Skąd pewność, że odpowiedź jest prawdziwa</a:t>
            </a:r>
          </a:p>
        </p:txBody>
      </p:sp>
      <p:sp>
        <p:nvSpPr>
          <p:cNvPr id="3" name="Rectangle 2"/>
          <p:cNvSpPr/>
          <p:nvPr/>
        </p:nvSpPr>
        <p:spPr>
          <a:xfrm>
            <a:off x="609600" y="1123950"/>
            <a:ext cx="609600" cy="47625"/>
          </a:xfrm>
          <a:prstGeom prst="rect">
            <a:avLst/>
          </a:prstGeom>
          <a:solidFill>
            <a:srgbClr val="1FC8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6534150"/>
            <a:ext cx="47625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950" b="0">
                <a:solidFill>
                  <a:srgbClr val="94A3B8"/>
                </a:solidFill>
                <a:latin typeface="Segoe UI"/>
              </a:rPr>
              <a:t>ZCO Document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39500" y="6534150"/>
            <a:ext cx="5715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50" b="0">
                <a:solidFill>
                  <a:srgbClr val="94A3B8"/>
                </a:solidFill>
                <a:latin typeface="Segoe UI"/>
              </a:rPr>
              <a:t>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9600" y="1619250"/>
            <a:ext cx="2557462" cy="123825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62000" y="1752600"/>
            <a:ext cx="247650" cy="247650"/>
          </a:xfrm>
          <a:prstGeom prst="ellipse">
            <a:avLst/>
          </a:prstGeom>
          <a:solidFill>
            <a:srgbClr val="0F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2095500"/>
            <a:ext cx="2252662" cy="666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400" b="1">
                <a:solidFill>
                  <a:srgbClr val="1D2A4D"/>
                </a:solidFill>
                <a:latin typeface="Segoe UI"/>
              </a:rPr>
              <a:t>Pytanie</a:t>
            </a:r>
          </a:p>
          <a:p>
            <a:pPr>
              <a:lnSpc>
                <a:spcPct val="130000"/>
              </a:lnSpc>
            </a:pPr>
            <a:r>
              <a:rPr sz="1050" b="0">
                <a:solidFill>
                  <a:srgbClr val="64748B"/>
                </a:solidFill>
                <a:latin typeface="Segoe UI"/>
              </a:rPr>
              <a:t>zwykłym językiem, np. „jak rozliczyć delegację?”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5162" y="2114550"/>
            <a:ext cx="1905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500" b="0">
                <a:solidFill>
                  <a:srgbClr val="0F9B8E"/>
                </a:solidFill>
                <a:latin typeface="Segoe UI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14712" y="1619250"/>
            <a:ext cx="2557462" cy="123825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567112" y="1752600"/>
            <a:ext cx="247650" cy="247650"/>
          </a:xfrm>
          <a:prstGeom prst="ellipse">
            <a:avLst/>
          </a:prstGeom>
          <a:solidFill>
            <a:srgbClr val="0F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7112" y="2095500"/>
            <a:ext cx="2252662" cy="666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400" b="1">
                <a:solidFill>
                  <a:srgbClr val="1D2A4D"/>
                </a:solidFill>
                <a:latin typeface="Segoe UI"/>
              </a:rPr>
              <a:t>Wyszukanie</a:t>
            </a:r>
          </a:p>
          <a:p>
            <a:pPr>
              <a:lnSpc>
                <a:spcPct val="130000"/>
              </a:lnSpc>
            </a:pPr>
            <a:r>
              <a:rPr sz="1050" b="0">
                <a:solidFill>
                  <a:srgbClr val="64748B"/>
                </a:solidFill>
                <a:latin typeface="Segoe UI"/>
              </a:rPr>
              <a:t>system znajduje fragmenty w Waszych plikach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10275" y="2114550"/>
            <a:ext cx="1905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500" b="0">
                <a:solidFill>
                  <a:srgbClr val="0F9B8E"/>
                </a:solidFill>
                <a:latin typeface="Segoe UI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9825" y="1619250"/>
            <a:ext cx="2557462" cy="123825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372225" y="1752600"/>
            <a:ext cx="247650" cy="247650"/>
          </a:xfrm>
          <a:prstGeom prst="ellipse">
            <a:avLst/>
          </a:prstGeom>
          <a:solidFill>
            <a:srgbClr val="0F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72225" y="2095500"/>
            <a:ext cx="2252662" cy="666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400" b="1">
                <a:solidFill>
                  <a:srgbClr val="1D2A4D"/>
                </a:solidFill>
                <a:latin typeface="Segoe UI"/>
              </a:rPr>
              <a:t>Odpowiedź</a:t>
            </a:r>
          </a:p>
          <a:p>
            <a:pPr>
              <a:lnSpc>
                <a:spcPct val="130000"/>
              </a:lnSpc>
            </a:pPr>
            <a:r>
              <a:rPr sz="1050" b="0">
                <a:solidFill>
                  <a:srgbClr val="64748B"/>
                </a:solidFill>
                <a:latin typeface="Segoe UI"/>
              </a:rPr>
              <a:t>zbudowana wyłącznie z tych fragmentów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15387" y="2114550"/>
            <a:ext cx="1905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500" b="0">
                <a:solidFill>
                  <a:srgbClr val="0F9B8E"/>
                </a:solidFill>
                <a:latin typeface="Segoe UI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24937" y="1619250"/>
            <a:ext cx="2557462" cy="123825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177337" y="1752600"/>
            <a:ext cx="247650" cy="247650"/>
          </a:xfrm>
          <a:prstGeom prst="ellipse">
            <a:avLst/>
          </a:prstGeom>
          <a:solidFill>
            <a:srgbClr val="0F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77337" y="2095500"/>
            <a:ext cx="2252662" cy="666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400" b="1">
                <a:solidFill>
                  <a:srgbClr val="1D2A4D"/>
                </a:solidFill>
                <a:latin typeface="Segoe UI"/>
              </a:rPr>
              <a:t>Dowód</a:t>
            </a:r>
          </a:p>
          <a:p>
            <a:pPr>
              <a:lnSpc>
                <a:spcPct val="130000"/>
              </a:lnSpc>
            </a:pPr>
            <a:r>
              <a:rPr sz="1050" b="0">
                <a:solidFill>
                  <a:srgbClr val="64748B"/>
                </a:solidFill>
                <a:latin typeface="Segoe UI"/>
              </a:rPr>
              <a:t>numer przy zdaniu prowadzi do dokumentu i strony</a:t>
            </a:r>
          </a:p>
        </p:txBody>
      </p:sp>
      <p:sp>
        <p:nvSpPr>
          <p:cNvPr id="21" name="Oval 20"/>
          <p:cNvSpPr/>
          <p:nvPr/>
        </p:nvSpPr>
        <p:spPr>
          <a:xfrm>
            <a:off x="609600" y="3238500"/>
            <a:ext cx="85725" cy="85725"/>
          </a:xfrm>
          <a:prstGeom prst="ellipse">
            <a:avLst/>
          </a:prstGeom>
          <a:solidFill>
            <a:srgbClr val="0F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8200" y="3162300"/>
            <a:ext cx="10744200" cy="285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700" b="0">
                <a:solidFill>
                  <a:srgbClr val="1E293B"/>
                </a:solidFill>
                <a:latin typeface="Segoe UI"/>
              </a:rPr>
              <a:t>Odpowiedź powstaje wyłącznie z fragmentów Waszych plików</a:t>
            </a:r>
          </a:p>
        </p:txBody>
      </p:sp>
      <p:sp>
        <p:nvSpPr>
          <p:cNvPr id="23" name="Oval 22"/>
          <p:cNvSpPr/>
          <p:nvPr/>
        </p:nvSpPr>
        <p:spPr>
          <a:xfrm>
            <a:off x="609600" y="3676650"/>
            <a:ext cx="85725" cy="85725"/>
          </a:xfrm>
          <a:prstGeom prst="ellipse">
            <a:avLst/>
          </a:prstGeom>
          <a:solidFill>
            <a:srgbClr val="0F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8200" y="3600450"/>
            <a:ext cx="10744200" cy="285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700" b="0">
                <a:solidFill>
                  <a:srgbClr val="1E293B"/>
                </a:solidFill>
                <a:latin typeface="Segoe UI"/>
              </a:rPr>
              <a:t>Brak dopasowania = jasny komunikat zamiast wymyślonej treści</a:t>
            </a:r>
          </a:p>
        </p:txBody>
      </p:sp>
      <p:sp>
        <p:nvSpPr>
          <p:cNvPr id="25" name="Oval 24"/>
          <p:cNvSpPr/>
          <p:nvPr/>
        </p:nvSpPr>
        <p:spPr>
          <a:xfrm>
            <a:off x="609600" y="4114800"/>
            <a:ext cx="85725" cy="85725"/>
          </a:xfrm>
          <a:prstGeom prst="ellipse">
            <a:avLst/>
          </a:prstGeom>
          <a:solidFill>
            <a:srgbClr val="0F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8200" y="4038600"/>
            <a:ext cx="10744200" cy="285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700" b="0">
                <a:solidFill>
                  <a:srgbClr val="1E293B"/>
                </a:solidFill>
                <a:latin typeface="Segoe UI"/>
              </a:rPr>
              <a:t>Widać też, ile dokumentów sprawdzono i z których nie skorzystano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09600" y="5676900"/>
            <a:ext cx="10972800" cy="590550"/>
          </a:xfrm>
          <a:prstGeom prst="roundRect">
            <a:avLst>
              <a:gd name="adj" fmla="val 6000"/>
            </a:avLst>
          </a:prstGeom>
          <a:solidFill>
            <a:srgbClr val="1D2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9550" tIns="0"/>
          <a:lstStyle/>
          <a:p>
            <a:pPr algn="l">
              <a:lnSpc>
                <a:spcPct val="125000"/>
              </a:lnSpc>
            </a:pPr>
            <a:r>
              <a:rPr sz="1650" b="1">
                <a:solidFill>
                  <a:srgbClr val="FFFFFF"/>
                </a:solidFill>
                <a:latin typeface="Segoe UI"/>
              </a:rPr>
              <a:t>Nie trzeba wierzyć systemowi — każde zdanie sprawdzicie w źródle.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09600" y="5676900"/>
            <a:ext cx="57150" cy="590550"/>
          </a:xfrm>
          <a:prstGeom prst="rect">
            <a:avLst/>
          </a:prstGeom>
          <a:solidFill>
            <a:srgbClr val="1FC8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457200"/>
            <a:ext cx="10477500" cy="571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3000" b="1">
                <a:solidFill>
                  <a:srgbClr val="1D2A4D"/>
                </a:solidFill>
                <a:latin typeface="Segoe UI"/>
              </a:rPr>
              <a:t>Pojemność i szybkość</a:t>
            </a:r>
          </a:p>
        </p:txBody>
      </p:sp>
      <p:sp>
        <p:nvSpPr>
          <p:cNvPr id="3" name="Rectangle 2"/>
          <p:cNvSpPr/>
          <p:nvPr/>
        </p:nvSpPr>
        <p:spPr>
          <a:xfrm>
            <a:off x="609600" y="1123950"/>
            <a:ext cx="609600" cy="47625"/>
          </a:xfrm>
          <a:prstGeom prst="rect">
            <a:avLst/>
          </a:prstGeom>
          <a:solidFill>
            <a:srgbClr val="1FC8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6534150"/>
            <a:ext cx="47625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950" b="0">
                <a:solidFill>
                  <a:srgbClr val="94A3B8"/>
                </a:solidFill>
                <a:latin typeface="Segoe UI"/>
              </a:rPr>
              <a:t>ZCO Document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39500" y="6534150"/>
            <a:ext cx="5715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50" b="0">
                <a:solidFill>
                  <a:srgbClr val="94A3B8"/>
                </a:solidFill>
                <a:latin typeface="Segoe UI"/>
              </a:rPr>
              <a:t>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9600" y="1619250"/>
            <a:ext cx="3543300" cy="123825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8200" y="1828800"/>
            <a:ext cx="3086100" cy="952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3400" b="1">
                <a:solidFill>
                  <a:srgbClr val="1D2A4D"/>
                </a:solidFill>
                <a:latin typeface="Segoe UI"/>
              </a:rPr>
              <a:t>128 GB</a:t>
            </a:r>
          </a:p>
          <a:p>
            <a:pPr>
              <a:lnSpc>
                <a:spcPct val="130000"/>
              </a:lnSpc>
            </a:pPr>
            <a:r>
              <a:rPr sz="1350" b="0">
                <a:solidFill>
                  <a:srgbClr val="1E293B"/>
                </a:solidFill>
                <a:latin typeface="Segoe UI"/>
              </a:rPr>
              <a:t>pamięci dla modelu</a:t>
            </a:r>
          </a:p>
          <a:p>
            <a:pPr>
              <a:lnSpc>
                <a:spcPct val="130000"/>
              </a:lnSpc>
            </a:pPr>
            <a:r>
              <a:rPr sz="1000" b="0">
                <a:solidFill>
                  <a:srgbClr val="64748B"/>
                </a:solidFill>
                <a:latin typeface="Segoe UI"/>
              </a:rPr>
              <a:t>jedno urządzenie obsługuje cały szpital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24350" y="1619250"/>
            <a:ext cx="3543300" cy="123825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52950" y="1828800"/>
            <a:ext cx="3086100" cy="952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3400" b="1">
                <a:solidFill>
                  <a:srgbClr val="1D2A4D"/>
                </a:solidFill>
                <a:latin typeface="Segoe UI"/>
              </a:rPr>
              <a:t>4 TB</a:t>
            </a:r>
          </a:p>
          <a:p>
            <a:pPr>
              <a:lnSpc>
                <a:spcPct val="130000"/>
              </a:lnSpc>
            </a:pPr>
            <a:r>
              <a:rPr sz="1350" b="0">
                <a:solidFill>
                  <a:srgbClr val="1E293B"/>
                </a:solidFill>
                <a:latin typeface="Segoe UI"/>
              </a:rPr>
              <a:t>na dokumenty</a:t>
            </a:r>
          </a:p>
          <a:p>
            <a:pPr>
              <a:lnSpc>
                <a:spcPct val="130000"/>
              </a:lnSpc>
            </a:pPr>
            <a:r>
              <a:rPr sz="1000" b="0">
                <a:solidFill>
                  <a:srgbClr val="64748B"/>
                </a:solidFill>
                <a:latin typeface="Segoe UI"/>
              </a:rPr>
              <a:t>setki tysięcy plików biurowych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39100" y="1619250"/>
            <a:ext cx="3543300" cy="123825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67700" y="1828800"/>
            <a:ext cx="3086100" cy="952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3400" b="1">
                <a:solidFill>
                  <a:srgbClr val="1D2A4D"/>
                </a:solidFill>
                <a:latin typeface="Segoe UI"/>
              </a:rPr>
              <a:t>~1 s</a:t>
            </a:r>
          </a:p>
          <a:p>
            <a:pPr>
              <a:lnSpc>
                <a:spcPct val="130000"/>
              </a:lnSpc>
            </a:pPr>
            <a:r>
              <a:rPr sz="1350" b="0">
                <a:solidFill>
                  <a:srgbClr val="1E293B"/>
                </a:solidFill>
                <a:latin typeface="Segoe UI"/>
              </a:rPr>
              <a:t>do pierwszego słowa odpowiedzi</a:t>
            </a:r>
          </a:p>
          <a:p>
            <a:pPr>
              <a:lnSpc>
                <a:spcPct val="130000"/>
              </a:lnSpc>
            </a:pPr>
            <a:r>
              <a:rPr sz="1000" b="0">
                <a:solidFill>
                  <a:srgbClr val="64748B"/>
                </a:solidFill>
                <a:latin typeface="Segoe UI"/>
              </a:rPr>
              <a:t>cała odpowiedź gotowa w ok. 15 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3067050"/>
            <a:ext cx="3810000" cy="209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150" b="1">
                <a:solidFill>
                  <a:srgbClr val="1D2A4D"/>
                </a:solidFill>
                <a:latin typeface="Segoe UI"/>
              </a:rPr>
              <a:t>Ile to trwa w praktyce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3333750"/>
            <a:ext cx="28575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250" b="0">
                <a:solidFill>
                  <a:srgbClr val="1E293B"/>
                </a:solidFill>
                <a:latin typeface="Segoe UI"/>
              </a:rPr>
              <a:t>Czas do rozpoczęcia odpowiedzi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562350" y="3352800"/>
            <a:ext cx="98425" cy="142875"/>
          </a:xfrm>
          <a:prstGeom prst="rect">
            <a:avLst/>
          </a:prstGeom>
          <a:solidFill>
            <a:srgbClr val="0F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0" y="3333750"/>
            <a:ext cx="1905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250" b="1">
                <a:solidFill>
                  <a:srgbClr val="1E293B"/>
                </a:solidFill>
                <a:latin typeface="Segoe UI"/>
              </a:rPr>
              <a:t>ok. 1 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9600" y="3619500"/>
            <a:ext cx="28575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250" b="0">
                <a:solidFill>
                  <a:srgbClr val="1E293B"/>
                </a:solidFill>
                <a:latin typeface="Segoe UI"/>
              </a:rPr>
              <a:t>Czas utworzenia całej odpowiedzi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562350" y="3638550"/>
            <a:ext cx="1476375" cy="142875"/>
          </a:xfrm>
          <a:prstGeom prst="rect">
            <a:avLst/>
          </a:prstGeom>
          <a:solidFill>
            <a:srgbClr val="0F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0" y="3619500"/>
            <a:ext cx="1905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250" b="1">
                <a:solidFill>
                  <a:srgbClr val="1E293B"/>
                </a:solidFill>
                <a:latin typeface="Segoe UI"/>
              </a:rPr>
              <a:t>ok. 15 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9600" y="3905250"/>
            <a:ext cx="28575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250" b="0">
                <a:solidFill>
                  <a:srgbClr val="1E293B"/>
                </a:solidFill>
                <a:latin typeface="Segoe UI"/>
              </a:rPr>
              <a:t>Przygotowanie dokumentu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562350" y="3924300"/>
            <a:ext cx="5905500" cy="142875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01200" y="3905250"/>
            <a:ext cx="1905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250" b="1">
                <a:solidFill>
                  <a:srgbClr val="1E293B"/>
                </a:solidFill>
                <a:latin typeface="Segoe UI"/>
              </a:rPr>
              <a:t>średnio ok. 60 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9600" y="4248150"/>
            <a:ext cx="10477500" cy="285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</a:pPr>
            <a:r>
              <a:rPr sz="950" b="0">
                <a:solidFill>
                  <a:srgbClr val="64748B"/>
                </a:solidFill>
                <a:latin typeface="Segoe UI"/>
              </a:rPr>
              <a:t>Długość słupka odpowiada czasowi. Pomiary z działającego wdrożenia demonstracyjnego; przygotowanie dokumentu odbywa się raz, w tle, przy wgraniu pliku.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09600" y="5676900"/>
            <a:ext cx="10972800" cy="590550"/>
          </a:xfrm>
          <a:prstGeom prst="roundRect">
            <a:avLst>
              <a:gd name="adj" fmla="val 6000"/>
            </a:avLst>
          </a:prstGeom>
          <a:solidFill>
            <a:srgbClr val="1D2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9550" tIns="0"/>
          <a:lstStyle/>
          <a:p>
            <a:pPr algn="l">
              <a:lnSpc>
                <a:spcPct val="125000"/>
              </a:lnSpc>
            </a:pPr>
            <a:r>
              <a:rPr sz="1650" b="1">
                <a:solidFill>
                  <a:srgbClr val="FFFFFF"/>
                </a:solidFill>
                <a:latin typeface="Segoe UI"/>
              </a:rPr>
              <a:t>Baza rośnie, czas odpowiedzi stoi w miejscu.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09600" y="5676900"/>
            <a:ext cx="57150" cy="590550"/>
          </a:xfrm>
          <a:prstGeom prst="rect">
            <a:avLst/>
          </a:prstGeom>
          <a:solidFill>
            <a:srgbClr val="1FC8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457200"/>
            <a:ext cx="10477500" cy="571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3000" b="1">
                <a:solidFill>
                  <a:srgbClr val="1D2A4D"/>
                </a:solidFill>
                <a:latin typeface="Segoe UI"/>
              </a:rPr>
              <a:t>Łatwość obsługi</a:t>
            </a:r>
          </a:p>
        </p:txBody>
      </p:sp>
      <p:sp>
        <p:nvSpPr>
          <p:cNvPr id="3" name="Rectangle 2"/>
          <p:cNvSpPr/>
          <p:nvPr/>
        </p:nvSpPr>
        <p:spPr>
          <a:xfrm>
            <a:off x="609600" y="1123950"/>
            <a:ext cx="609600" cy="47625"/>
          </a:xfrm>
          <a:prstGeom prst="rect">
            <a:avLst/>
          </a:prstGeom>
          <a:solidFill>
            <a:srgbClr val="1FC8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6534150"/>
            <a:ext cx="47625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950" b="0">
                <a:solidFill>
                  <a:srgbClr val="94A3B8"/>
                </a:solidFill>
                <a:latin typeface="Segoe UI"/>
              </a:rPr>
              <a:t>ZCO Document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39500" y="6534150"/>
            <a:ext cx="5715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50" b="0">
                <a:solidFill>
                  <a:srgbClr val="94A3B8"/>
                </a:solidFill>
                <a:latin typeface="Segoe UI"/>
              </a:rPr>
              <a:t>7</a:t>
            </a:r>
          </a:p>
        </p:txBody>
      </p:sp>
      <p:sp>
        <p:nvSpPr>
          <p:cNvPr id="6" name="Oval 5"/>
          <p:cNvSpPr/>
          <p:nvPr/>
        </p:nvSpPr>
        <p:spPr>
          <a:xfrm>
            <a:off x="609600" y="1695450"/>
            <a:ext cx="85725" cy="85725"/>
          </a:xfrm>
          <a:prstGeom prst="ellipse">
            <a:avLst/>
          </a:prstGeom>
          <a:solidFill>
            <a:srgbClr val="0F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8200" y="1619250"/>
            <a:ext cx="5676900" cy="285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700" b="0">
                <a:solidFill>
                  <a:srgbClr val="1E293B"/>
                </a:solidFill>
                <a:latin typeface="Segoe UI"/>
              </a:rPr>
              <a:t>Przeglądarka — nic do instalowania na komputerach pracowników</a:t>
            </a:r>
          </a:p>
        </p:txBody>
      </p:sp>
      <p:sp>
        <p:nvSpPr>
          <p:cNvPr id="8" name="Oval 7"/>
          <p:cNvSpPr/>
          <p:nvPr/>
        </p:nvSpPr>
        <p:spPr>
          <a:xfrm>
            <a:off x="609600" y="2419350"/>
            <a:ext cx="85725" cy="85725"/>
          </a:xfrm>
          <a:prstGeom prst="ellipse">
            <a:avLst/>
          </a:prstGeom>
          <a:solidFill>
            <a:srgbClr val="0F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8200" y="2343150"/>
            <a:ext cx="5676900" cy="285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700" b="0">
                <a:solidFill>
                  <a:srgbClr val="1E293B"/>
                </a:solidFill>
                <a:latin typeface="Segoe UI"/>
              </a:rPr>
              <a:t>Trzy ekrany: Dashboard, Pliki, Baza wiedzy. Administracja tylko dla administratora</a:t>
            </a:r>
          </a:p>
        </p:txBody>
      </p:sp>
      <p:sp>
        <p:nvSpPr>
          <p:cNvPr id="10" name="Oval 9"/>
          <p:cNvSpPr/>
          <p:nvPr/>
        </p:nvSpPr>
        <p:spPr>
          <a:xfrm>
            <a:off x="609600" y="3143250"/>
            <a:ext cx="85725" cy="85725"/>
          </a:xfrm>
          <a:prstGeom prst="ellipse">
            <a:avLst/>
          </a:prstGeom>
          <a:solidFill>
            <a:srgbClr val="0F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8200" y="3067050"/>
            <a:ext cx="5676900" cy="285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700" b="0">
                <a:solidFill>
                  <a:srgbClr val="1E293B"/>
                </a:solidFill>
                <a:latin typeface="Segoe UI"/>
              </a:rPr>
              <a:t>Pytanie potoczne działa: „delegacja” znajdzie „podróż służbową”, „L4” — „zwolnienie lekarskie”</a:t>
            </a:r>
          </a:p>
        </p:txBody>
      </p:sp>
      <p:sp>
        <p:nvSpPr>
          <p:cNvPr id="12" name="Oval 11"/>
          <p:cNvSpPr/>
          <p:nvPr/>
        </p:nvSpPr>
        <p:spPr>
          <a:xfrm>
            <a:off x="609600" y="3867150"/>
            <a:ext cx="85725" cy="85725"/>
          </a:xfrm>
          <a:prstGeom prst="ellipse">
            <a:avLst/>
          </a:prstGeom>
          <a:solidFill>
            <a:srgbClr val="0F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8200" y="3790950"/>
            <a:ext cx="5676900" cy="285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700" b="0">
                <a:solidFill>
                  <a:srgbClr val="1E293B"/>
                </a:solidFill>
                <a:latin typeface="Segoe UI"/>
              </a:rPr>
              <a:t>Wystarczy sama nazwa dokumentu, żeby dostać jego opis i odnośnik</a:t>
            </a:r>
          </a:p>
        </p:txBody>
      </p:sp>
      <p:sp>
        <p:nvSpPr>
          <p:cNvPr id="14" name="Oval 13"/>
          <p:cNvSpPr/>
          <p:nvPr/>
        </p:nvSpPr>
        <p:spPr>
          <a:xfrm>
            <a:off x="609600" y="4591050"/>
            <a:ext cx="85725" cy="85725"/>
          </a:xfrm>
          <a:prstGeom prst="ellipse">
            <a:avLst/>
          </a:prstGeom>
          <a:solidFill>
            <a:srgbClr val="0F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8200" y="4514850"/>
            <a:ext cx="5676900" cy="285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700" b="0">
                <a:solidFill>
                  <a:srgbClr val="1E293B"/>
                </a:solidFill>
                <a:latin typeface="Segoe UI"/>
              </a:rPr>
              <a:t>Szkolenie pracownika: 20 minut. Instrukcja w aplikacji, pod przyciskiem Pomoc</a:t>
            </a:r>
          </a:p>
        </p:txBody>
      </p:sp>
      <p:pic>
        <p:nvPicPr>
          <p:cNvPr id="16" name="Picture 15" descr="a08-cha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7500" y="1676400"/>
            <a:ext cx="4914900" cy="3071812"/>
          </a:xfrm>
          <a:prstGeom prst="rect">
            <a:avLst/>
          </a:prstGeom>
        </p:spPr>
      </p:pic>
      <p:sp>
        <p:nvSpPr>
          <p:cNvPr id="17" name="Rounded Rectangle 16"/>
          <p:cNvSpPr/>
          <p:nvPr/>
        </p:nvSpPr>
        <p:spPr>
          <a:xfrm>
            <a:off x="609600" y="5676900"/>
            <a:ext cx="10972800" cy="590550"/>
          </a:xfrm>
          <a:prstGeom prst="roundRect">
            <a:avLst>
              <a:gd name="adj" fmla="val 6000"/>
            </a:avLst>
          </a:prstGeom>
          <a:solidFill>
            <a:srgbClr val="1D2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9550" tIns="0"/>
          <a:lstStyle/>
          <a:p>
            <a:pPr algn="l">
              <a:lnSpc>
                <a:spcPct val="125000"/>
              </a:lnSpc>
            </a:pPr>
            <a:r>
              <a:rPr sz="1650" b="1">
                <a:solidFill>
                  <a:srgbClr val="FFFFFF"/>
                </a:solidFill>
                <a:latin typeface="Segoe UI"/>
              </a:rPr>
              <a:t>Kto umie korzystać z wyszukiwarki internetowej, umie korzystać z tego.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9600" y="5676900"/>
            <a:ext cx="57150" cy="590550"/>
          </a:xfrm>
          <a:prstGeom prst="rect">
            <a:avLst/>
          </a:prstGeom>
          <a:solidFill>
            <a:srgbClr val="1FC8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457200"/>
            <a:ext cx="10477500" cy="571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3000" b="1">
                <a:solidFill>
                  <a:srgbClr val="1D2A4D"/>
                </a:solidFill>
                <a:latin typeface="Segoe UI"/>
              </a:rPr>
              <a:t>Gdzie to pracuje</a:t>
            </a:r>
          </a:p>
        </p:txBody>
      </p:sp>
      <p:sp>
        <p:nvSpPr>
          <p:cNvPr id="3" name="Rectangle 2"/>
          <p:cNvSpPr/>
          <p:nvPr/>
        </p:nvSpPr>
        <p:spPr>
          <a:xfrm>
            <a:off x="609600" y="1123950"/>
            <a:ext cx="609600" cy="47625"/>
          </a:xfrm>
          <a:prstGeom prst="rect">
            <a:avLst/>
          </a:prstGeom>
          <a:solidFill>
            <a:srgbClr val="1FC8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6534150"/>
            <a:ext cx="47625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950" b="0">
                <a:solidFill>
                  <a:srgbClr val="94A3B8"/>
                </a:solidFill>
                <a:latin typeface="Segoe UI"/>
              </a:rPr>
              <a:t>ZCO Document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39500" y="6534150"/>
            <a:ext cx="5715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50" b="0">
                <a:solidFill>
                  <a:srgbClr val="94A3B8"/>
                </a:solidFill>
                <a:latin typeface="Segoe UI"/>
              </a:rPr>
              <a:t>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9600" y="1619250"/>
            <a:ext cx="3568700" cy="78105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0100" y="1771650"/>
            <a:ext cx="3187700" cy="571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450" b="1">
                <a:solidFill>
                  <a:srgbClr val="1D2A4D"/>
                </a:solidFill>
                <a:latin typeface="Segoe UI"/>
              </a:rPr>
              <a:t>Kadry</a:t>
            </a:r>
          </a:p>
          <a:p>
            <a:pPr>
              <a:lnSpc>
                <a:spcPct val="130000"/>
              </a:lnSpc>
            </a:pPr>
            <a:r>
              <a:rPr sz="1100" b="0">
                <a:solidFill>
                  <a:srgbClr val="64748B"/>
                </a:solidFill>
                <a:latin typeface="Segoe UI"/>
              </a:rPr>
              <a:t>regulaminy, wnioski, PPK, ZFŚS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11650" y="1619250"/>
            <a:ext cx="3568700" cy="78105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02150" y="1771650"/>
            <a:ext cx="3187700" cy="571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450" b="1">
                <a:solidFill>
                  <a:srgbClr val="1D2A4D"/>
                </a:solidFill>
                <a:latin typeface="Segoe UI"/>
              </a:rPr>
              <a:t>Jakość i akredytacja</a:t>
            </a:r>
          </a:p>
          <a:p>
            <a:pPr>
              <a:lnSpc>
                <a:spcPct val="130000"/>
              </a:lnSpc>
            </a:pPr>
            <a:r>
              <a:rPr sz="1100" b="0">
                <a:solidFill>
                  <a:srgbClr val="64748B"/>
                </a:solidFill>
                <a:latin typeface="Segoe UI"/>
              </a:rPr>
              <a:t>procedury, instrukcje, wersje obowiązujące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13700" y="1619250"/>
            <a:ext cx="3568700" cy="78105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04200" y="1771650"/>
            <a:ext cx="3187700" cy="571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450" b="1">
                <a:solidFill>
                  <a:srgbClr val="1D2A4D"/>
                </a:solidFill>
                <a:latin typeface="Segoe UI"/>
              </a:rPr>
              <a:t>Personel medyczny</a:t>
            </a:r>
          </a:p>
          <a:p>
            <a:pPr>
              <a:lnSpc>
                <a:spcPct val="130000"/>
              </a:lnSpc>
            </a:pPr>
            <a:r>
              <a:rPr sz="1100" b="0">
                <a:solidFill>
                  <a:srgbClr val="64748B"/>
                </a:solidFill>
                <a:latin typeface="Segoe UI"/>
              </a:rPr>
              <a:t>procedury kliniczne i pielęgniarskie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9600" y="2533650"/>
            <a:ext cx="3568700" cy="78105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0100" y="2686050"/>
            <a:ext cx="3187700" cy="571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450" b="1">
                <a:solidFill>
                  <a:srgbClr val="1D2A4D"/>
                </a:solidFill>
                <a:latin typeface="Segoe UI"/>
              </a:rPr>
              <a:t>Administracja</a:t>
            </a:r>
          </a:p>
          <a:p>
            <a:pPr>
              <a:lnSpc>
                <a:spcPct val="130000"/>
              </a:lnSpc>
            </a:pPr>
            <a:r>
              <a:rPr sz="1100" b="0">
                <a:solidFill>
                  <a:srgbClr val="64748B"/>
                </a:solidFill>
                <a:latin typeface="Segoe UI"/>
              </a:rPr>
              <a:t>umowy, zarządzenia, przetargi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11650" y="2533650"/>
            <a:ext cx="3568700" cy="78105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02150" y="2686050"/>
            <a:ext cx="3187700" cy="571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450" b="1">
                <a:solidFill>
                  <a:srgbClr val="1D2A4D"/>
                </a:solidFill>
                <a:latin typeface="Segoe UI"/>
              </a:rPr>
              <a:t>BHP · RODO · IT</a:t>
            </a:r>
          </a:p>
          <a:p>
            <a:pPr>
              <a:lnSpc>
                <a:spcPct val="130000"/>
              </a:lnSpc>
            </a:pPr>
            <a:r>
              <a:rPr sz="1100" b="0">
                <a:solidFill>
                  <a:srgbClr val="64748B"/>
                </a:solidFill>
                <a:latin typeface="Segoe UI"/>
              </a:rPr>
              <a:t>polityki i instrukcje wewnętrzne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13700" y="2533650"/>
            <a:ext cx="3568700" cy="78105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04200" y="2686050"/>
            <a:ext cx="3187700" cy="571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450" b="1">
                <a:solidFill>
                  <a:srgbClr val="1D2A4D"/>
                </a:solidFill>
                <a:latin typeface="Segoe UI"/>
              </a:rPr>
              <a:t>Poza szpitalem</a:t>
            </a:r>
          </a:p>
          <a:p>
            <a:pPr>
              <a:lnSpc>
                <a:spcPct val="130000"/>
              </a:lnSpc>
            </a:pPr>
            <a:r>
              <a:rPr sz="1100" b="0">
                <a:solidFill>
                  <a:srgbClr val="64748B"/>
                </a:solidFill>
                <a:latin typeface="Segoe UI"/>
              </a:rPr>
              <a:t>uczelnie, urzędy, kancelarie, produkcja</a:t>
            </a:r>
          </a:p>
        </p:txBody>
      </p:sp>
      <p:sp>
        <p:nvSpPr>
          <p:cNvPr id="18" name="Oval 17"/>
          <p:cNvSpPr/>
          <p:nvPr/>
        </p:nvSpPr>
        <p:spPr>
          <a:xfrm>
            <a:off x="609600" y="3638550"/>
            <a:ext cx="85725" cy="85725"/>
          </a:xfrm>
          <a:prstGeom prst="ellipse">
            <a:avLst/>
          </a:prstGeom>
          <a:solidFill>
            <a:srgbClr val="0F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8200" y="3562350"/>
            <a:ext cx="10744200" cy="285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700" b="0">
                <a:solidFill>
                  <a:srgbClr val="1E293B"/>
                </a:solidFill>
                <a:latin typeface="Segoe UI"/>
              </a:rPr>
              <a:t>Zaczynamy zwykle od kadr — tam pytania powtarzają się najczęściej, efekt widać w pierwszym tygodniu</a:t>
            </a:r>
          </a:p>
        </p:txBody>
      </p:sp>
      <p:sp>
        <p:nvSpPr>
          <p:cNvPr id="20" name="Oval 19"/>
          <p:cNvSpPr/>
          <p:nvPr/>
        </p:nvSpPr>
        <p:spPr>
          <a:xfrm>
            <a:off x="609600" y="4076700"/>
            <a:ext cx="85725" cy="85725"/>
          </a:xfrm>
          <a:prstGeom prst="ellipse">
            <a:avLst/>
          </a:prstGeom>
          <a:solidFill>
            <a:srgbClr val="0F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8200" y="4000500"/>
            <a:ext cx="10744200" cy="285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700" b="0">
                <a:solidFill>
                  <a:srgbClr val="1E293B"/>
                </a:solidFill>
                <a:latin typeface="Segoe UI"/>
              </a:rPr>
              <a:t>Rozszerzenie na kolejny dział to wgranie dokumentów i nadanie uprawnień, nie nowe wdrożenie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09600" y="5676900"/>
            <a:ext cx="10972800" cy="590550"/>
          </a:xfrm>
          <a:prstGeom prst="roundRect">
            <a:avLst>
              <a:gd name="adj" fmla="val 6000"/>
            </a:avLst>
          </a:prstGeom>
          <a:solidFill>
            <a:srgbClr val="1D2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9550" tIns="0"/>
          <a:lstStyle/>
          <a:p>
            <a:pPr algn="l">
              <a:lnSpc>
                <a:spcPct val="125000"/>
              </a:lnSpc>
            </a:pPr>
            <a:r>
              <a:rPr sz="1650" b="1">
                <a:solidFill>
                  <a:srgbClr val="FFFFFF"/>
                </a:solidFill>
                <a:latin typeface="Segoe UI"/>
              </a:rPr>
              <a:t>Kolejny dział to wgranie dokumentów, a nie nowe wdrożenie.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09600" y="5676900"/>
            <a:ext cx="57150" cy="590550"/>
          </a:xfrm>
          <a:prstGeom prst="rect">
            <a:avLst/>
          </a:prstGeom>
          <a:solidFill>
            <a:srgbClr val="1FC8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457200"/>
            <a:ext cx="10477500" cy="571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3000" b="1">
                <a:solidFill>
                  <a:srgbClr val="1D2A4D"/>
                </a:solidFill>
                <a:latin typeface="Segoe UI"/>
              </a:rPr>
              <a:t>Nasza rola: wdrożenie i wsparcie</a:t>
            </a:r>
          </a:p>
        </p:txBody>
      </p:sp>
      <p:sp>
        <p:nvSpPr>
          <p:cNvPr id="3" name="Rectangle 2"/>
          <p:cNvSpPr/>
          <p:nvPr/>
        </p:nvSpPr>
        <p:spPr>
          <a:xfrm>
            <a:off x="609600" y="1123950"/>
            <a:ext cx="609600" cy="47625"/>
          </a:xfrm>
          <a:prstGeom prst="rect">
            <a:avLst/>
          </a:prstGeom>
          <a:solidFill>
            <a:srgbClr val="1FC8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6534150"/>
            <a:ext cx="47625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950" b="0">
                <a:solidFill>
                  <a:srgbClr val="94A3B8"/>
                </a:solidFill>
                <a:latin typeface="Segoe UI"/>
              </a:rPr>
              <a:t>ZCO Document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39500" y="6534150"/>
            <a:ext cx="5715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50" b="0">
                <a:solidFill>
                  <a:srgbClr val="94A3B8"/>
                </a:solidFill>
                <a:latin typeface="Segoe UI"/>
              </a:rPr>
              <a:t>9</a:t>
            </a:r>
          </a:p>
        </p:txBody>
      </p:sp>
      <p:sp>
        <p:nvSpPr>
          <p:cNvPr id="6" name="Rectangle 5"/>
          <p:cNvSpPr/>
          <p:nvPr/>
        </p:nvSpPr>
        <p:spPr>
          <a:xfrm>
            <a:off x="609600" y="1619250"/>
            <a:ext cx="28575" cy="990600"/>
          </a:xfrm>
          <a:prstGeom prst="rect">
            <a:avLst/>
          </a:prstGeom>
          <a:solidFill>
            <a:srgbClr val="1FC8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52450" y="1657350"/>
            <a:ext cx="142875" cy="142875"/>
          </a:xfrm>
          <a:prstGeom prst="ellipse">
            <a:avLst/>
          </a:prstGeom>
          <a:solidFill>
            <a:srgbClr val="0F9B8E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2000" y="1638300"/>
            <a:ext cx="3340100" cy="952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000" b="1">
                <a:solidFill>
                  <a:srgbClr val="0F9B8E"/>
                </a:solidFill>
                <a:latin typeface="Segoe UI"/>
              </a:rPr>
              <a:t>TYDZIEŃ 1</a:t>
            </a:r>
          </a:p>
          <a:p>
            <a:pPr>
              <a:lnSpc>
                <a:spcPct val="125000"/>
              </a:lnSpc>
            </a:pPr>
            <a:r>
              <a:rPr sz="1500" b="1">
                <a:solidFill>
                  <a:srgbClr val="1D2A4D"/>
                </a:solidFill>
                <a:latin typeface="Segoe UI"/>
              </a:rPr>
              <a:t>Instalacja i uruchomienie</a:t>
            </a:r>
          </a:p>
          <a:p>
            <a:pPr>
              <a:lnSpc>
                <a:spcPct val="135000"/>
              </a:lnSpc>
            </a:pPr>
            <a:r>
              <a:rPr sz="1150" b="0">
                <a:solidFill>
                  <a:srgbClr val="64748B"/>
                </a:solidFill>
                <a:latin typeface="Segoe UI"/>
              </a:rPr>
              <a:t>urządzenie w serwerowni, konta, uprawnienia</a:t>
            </a:r>
          </a:p>
        </p:txBody>
      </p:sp>
      <p:sp>
        <p:nvSpPr>
          <p:cNvPr id="9" name="Rectangle 8"/>
          <p:cNvSpPr/>
          <p:nvPr/>
        </p:nvSpPr>
        <p:spPr>
          <a:xfrm>
            <a:off x="4311650" y="1619250"/>
            <a:ext cx="28575" cy="990600"/>
          </a:xfrm>
          <a:prstGeom prst="rect">
            <a:avLst/>
          </a:prstGeom>
          <a:solidFill>
            <a:srgbClr val="1FC8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254500" y="1657350"/>
            <a:ext cx="142875" cy="142875"/>
          </a:xfrm>
          <a:prstGeom prst="ellipse">
            <a:avLst/>
          </a:prstGeom>
          <a:solidFill>
            <a:srgbClr val="0F9B8E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64050" y="1638300"/>
            <a:ext cx="3340100" cy="952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000" b="1">
                <a:solidFill>
                  <a:srgbClr val="0F9B8E"/>
                </a:solidFill>
                <a:latin typeface="Segoe UI"/>
              </a:rPr>
              <a:t>TYDZIEŃ 2</a:t>
            </a:r>
          </a:p>
          <a:p>
            <a:pPr>
              <a:lnSpc>
                <a:spcPct val="125000"/>
              </a:lnSpc>
            </a:pPr>
            <a:r>
              <a:rPr sz="1500" b="1">
                <a:solidFill>
                  <a:srgbClr val="1D2A4D"/>
                </a:solidFill>
                <a:latin typeface="Segoe UI"/>
              </a:rPr>
              <a:t>Wasze dokumenty i wzorce</a:t>
            </a:r>
          </a:p>
          <a:p>
            <a:pPr>
              <a:lnSpc>
                <a:spcPct val="135000"/>
              </a:lnSpc>
            </a:pPr>
            <a:r>
              <a:rPr sz="1150" b="0">
                <a:solidFill>
                  <a:srgbClr val="64748B"/>
                </a:solidFill>
                <a:latin typeface="Segoe UI"/>
              </a:rPr>
              <a:t>wgrywamy pierwszą partię, układamy schematy pism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13700" y="1619250"/>
            <a:ext cx="28575" cy="990600"/>
          </a:xfrm>
          <a:prstGeom prst="rect">
            <a:avLst/>
          </a:prstGeom>
          <a:solidFill>
            <a:srgbClr val="1FC8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956550" y="1657350"/>
            <a:ext cx="142875" cy="142875"/>
          </a:xfrm>
          <a:prstGeom prst="ellipse">
            <a:avLst/>
          </a:prstGeom>
          <a:solidFill>
            <a:srgbClr val="0F9B8E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6100" y="1638300"/>
            <a:ext cx="3340100" cy="952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000" b="1">
                <a:solidFill>
                  <a:srgbClr val="0F9B8E"/>
                </a:solidFill>
                <a:latin typeface="Segoe UI"/>
              </a:rPr>
              <a:t>TYDZIEŃ 3</a:t>
            </a:r>
          </a:p>
          <a:p>
            <a:pPr>
              <a:lnSpc>
                <a:spcPct val="125000"/>
              </a:lnSpc>
            </a:pPr>
            <a:r>
              <a:rPr sz="1500" b="1">
                <a:solidFill>
                  <a:srgbClr val="1D2A4D"/>
                </a:solidFill>
                <a:latin typeface="Segoe UI"/>
              </a:rPr>
              <a:t>Szkolenia i start</a:t>
            </a:r>
          </a:p>
          <a:p>
            <a:pPr>
              <a:lnSpc>
                <a:spcPct val="135000"/>
              </a:lnSpc>
            </a:pPr>
            <a:r>
              <a:rPr sz="1150" b="0">
                <a:solidFill>
                  <a:srgbClr val="64748B"/>
                </a:solidFill>
                <a:latin typeface="Segoe UI"/>
              </a:rPr>
              <a:t>20 min dla użytkownika, 2 h dla administratora</a:t>
            </a:r>
          </a:p>
        </p:txBody>
      </p:sp>
      <p:sp>
        <p:nvSpPr>
          <p:cNvPr id="15" name="Oval 14"/>
          <p:cNvSpPr/>
          <p:nvPr/>
        </p:nvSpPr>
        <p:spPr>
          <a:xfrm>
            <a:off x="609600" y="2990850"/>
            <a:ext cx="85725" cy="85725"/>
          </a:xfrm>
          <a:prstGeom prst="ellipse">
            <a:avLst/>
          </a:prstGeom>
          <a:solidFill>
            <a:srgbClr val="0F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8200" y="2914650"/>
            <a:ext cx="10744200" cy="285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700" b="0">
                <a:solidFill>
                  <a:srgbClr val="1E293B"/>
                </a:solidFill>
                <a:latin typeface="Segoe UI"/>
              </a:rPr>
              <a:t>Nie zostawiamy pustego systemu — pierwsza partia dokumentów wgrana i sprawdzona przez nas</a:t>
            </a:r>
          </a:p>
        </p:txBody>
      </p:sp>
      <p:sp>
        <p:nvSpPr>
          <p:cNvPr id="17" name="Oval 16"/>
          <p:cNvSpPr/>
          <p:nvPr/>
        </p:nvSpPr>
        <p:spPr>
          <a:xfrm>
            <a:off x="609600" y="3429000"/>
            <a:ext cx="85725" cy="85725"/>
          </a:xfrm>
          <a:prstGeom prst="ellipse">
            <a:avLst/>
          </a:prstGeom>
          <a:solidFill>
            <a:srgbClr val="0F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8200" y="3352800"/>
            <a:ext cx="10744200" cy="285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700" b="0">
                <a:solidFill>
                  <a:srgbClr val="1E293B"/>
                </a:solidFill>
                <a:latin typeface="Segoe UI"/>
              </a:rPr>
              <a:t>Wzorce pod Wasze pisma — system sam wyciąga numer, datę i osobę zatwierdzającą</a:t>
            </a:r>
          </a:p>
        </p:txBody>
      </p:sp>
      <p:sp>
        <p:nvSpPr>
          <p:cNvPr id="19" name="Oval 18"/>
          <p:cNvSpPr/>
          <p:nvPr/>
        </p:nvSpPr>
        <p:spPr>
          <a:xfrm>
            <a:off x="609600" y="3867150"/>
            <a:ext cx="85725" cy="85725"/>
          </a:xfrm>
          <a:prstGeom prst="ellipse">
            <a:avLst/>
          </a:prstGeom>
          <a:solidFill>
            <a:srgbClr val="0F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8200" y="3790950"/>
            <a:ext cx="10744200" cy="285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700" b="0">
                <a:solidFill>
                  <a:srgbClr val="1E293B"/>
                </a:solidFill>
                <a:latin typeface="Segoe UI"/>
              </a:rPr>
              <a:t>Wsparcie miesięczne — aktualizacje, opieka nad jakością odpowiedzi, nowe rodzaje dokumentów</a:t>
            </a:r>
          </a:p>
        </p:txBody>
      </p:sp>
      <p:sp>
        <p:nvSpPr>
          <p:cNvPr id="21" name="Oval 20"/>
          <p:cNvSpPr/>
          <p:nvPr/>
        </p:nvSpPr>
        <p:spPr>
          <a:xfrm>
            <a:off x="609600" y="4305300"/>
            <a:ext cx="85725" cy="85725"/>
          </a:xfrm>
          <a:prstGeom prst="ellipse">
            <a:avLst/>
          </a:prstGeom>
          <a:solidFill>
            <a:srgbClr val="0F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8200" y="4229100"/>
            <a:ext cx="10744200" cy="285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700" b="0">
                <a:solidFill>
                  <a:srgbClr val="1E293B"/>
                </a:solidFill>
                <a:latin typeface="Segoe UI"/>
              </a:rPr>
              <a:t>Kierunek rozwoju (poza obecną wersją): powiązania między dokumentami i wersja obowiązująca, podgląd PDF na cytowanej stronie, logowanie kontem domenowym, integracja z systemem szpitalnym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09600" y="5676900"/>
            <a:ext cx="10972800" cy="590550"/>
          </a:xfrm>
          <a:prstGeom prst="roundRect">
            <a:avLst>
              <a:gd name="adj" fmla="val 6000"/>
            </a:avLst>
          </a:prstGeom>
          <a:solidFill>
            <a:srgbClr val="1D2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9550" tIns="0"/>
          <a:lstStyle/>
          <a:p>
            <a:pPr algn="l">
              <a:lnSpc>
                <a:spcPct val="125000"/>
              </a:lnSpc>
            </a:pPr>
            <a:r>
              <a:rPr sz="1650" b="1">
                <a:solidFill>
                  <a:srgbClr val="FFFFFF"/>
                </a:solidFill>
                <a:latin typeface="Segoe UI"/>
              </a:rPr>
              <a:t>Przychodzimy z Waszymi dokumentami już w środku.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09600" y="5676900"/>
            <a:ext cx="57150" cy="590550"/>
          </a:xfrm>
          <a:prstGeom prst="rect">
            <a:avLst/>
          </a:prstGeom>
          <a:solidFill>
            <a:srgbClr val="1FC8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457200"/>
            <a:ext cx="10477500" cy="571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3000" b="1">
                <a:solidFill>
                  <a:srgbClr val="1D2A4D"/>
                </a:solidFill>
                <a:latin typeface="Segoe UI"/>
              </a:rPr>
              <a:t>Warunki i następny krok</a:t>
            </a:r>
          </a:p>
        </p:txBody>
      </p:sp>
      <p:sp>
        <p:nvSpPr>
          <p:cNvPr id="3" name="Rectangle 2"/>
          <p:cNvSpPr/>
          <p:nvPr/>
        </p:nvSpPr>
        <p:spPr>
          <a:xfrm>
            <a:off x="609600" y="1123950"/>
            <a:ext cx="609600" cy="47625"/>
          </a:xfrm>
          <a:prstGeom prst="rect">
            <a:avLst/>
          </a:prstGeom>
          <a:solidFill>
            <a:srgbClr val="1FC8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6534150"/>
            <a:ext cx="47625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950" b="0">
                <a:solidFill>
                  <a:srgbClr val="94A3B8"/>
                </a:solidFill>
                <a:latin typeface="Segoe UI"/>
              </a:rPr>
              <a:t>ZCO Document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39500" y="6534150"/>
            <a:ext cx="5715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50" b="0">
                <a:solidFill>
                  <a:srgbClr val="94A3B8"/>
                </a:solidFill>
                <a:latin typeface="Segoe UI"/>
              </a:rPr>
              <a:t>10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09600" y="1619250"/>
          <a:ext cx="10972800" cy="21907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382000"/>
                <a:gridCol w="2590800"/>
              </a:tblGrid>
              <a:tr h="43815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64748B"/>
                          </a:solidFill>
                          <a:latin typeface="Segoe UI"/>
                        </a:rPr>
                        <a:t>POZYCJA</a:t>
                      </a:r>
                    </a:p>
                  </a:txBody>
                  <a:tcPr marL="95250" marR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64748B"/>
                          </a:solidFill>
                          <a:latin typeface="Segoe UI"/>
                        </a:rPr>
                        <a:t>NETTO</a:t>
                      </a:r>
                    </a:p>
                  </a:txBody>
                  <a:tcPr marL="95250" marR="95250">
                    <a:solidFill>
                      <a:srgbClr val="FFFFFF"/>
                    </a:solidFill>
                  </a:tcPr>
                </a:tc>
              </a:tr>
              <a:tr h="43815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1E293B"/>
                          </a:solidFill>
                          <a:latin typeface="Segoe UI"/>
                        </a:rPr>
                        <a:t>Sprzęt: NVIDIA DGX Spark — 128 GB pamięci, 4 TB SSD</a:t>
                      </a:r>
                    </a:p>
                  </a:txBody>
                  <a:tcPr marL="95250" marR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>
                          <a:solidFill>
                            <a:srgbClr val="1E293B"/>
                          </a:solidFill>
                          <a:latin typeface="Segoe UI"/>
                        </a:rPr>
                        <a:t>20 000 zł</a:t>
                      </a:r>
                    </a:p>
                  </a:txBody>
                  <a:tcPr marL="95250" marR="95250">
                    <a:solidFill>
                      <a:srgbClr val="FFFFFF"/>
                    </a:solidFill>
                  </a:tcPr>
                </a:tc>
              </a:tr>
              <a:tr h="43815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1E293B"/>
                          </a:solidFill>
                          <a:latin typeface="Segoe UI"/>
                        </a:rPr>
                        <a:t>Dostawa i wdrożenie oprogramowania</a:t>
                      </a:r>
                    </a:p>
                  </a:txBody>
                  <a:tcPr marL="95250" marR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>
                          <a:solidFill>
                            <a:srgbClr val="1E293B"/>
                          </a:solidFill>
                          <a:latin typeface="Segoe UI"/>
                        </a:rPr>
                        <a:t>25 000 zł</a:t>
                      </a:r>
                    </a:p>
                  </a:txBody>
                  <a:tcPr marL="95250" marR="95250">
                    <a:solidFill>
                      <a:srgbClr val="FFFFFF"/>
                    </a:solidFill>
                  </a:tcPr>
                </a:tc>
              </a:tr>
              <a:tr h="43815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1E293B"/>
                          </a:solidFill>
                          <a:latin typeface="Segoe UI"/>
                        </a:rPr>
                        <a:t>Wsparcie i rozwój</a:t>
                      </a:r>
                    </a:p>
                  </a:txBody>
                  <a:tcPr marL="95250" marR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>
                          <a:solidFill>
                            <a:srgbClr val="1E293B"/>
                          </a:solidFill>
                          <a:latin typeface="Segoe UI"/>
                        </a:rPr>
                        <a:t>1 000 zł / mies.</a:t>
                      </a:r>
                    </a:p>
                  </a:txBody>
                  <a:tcPr marL="95250" marR="95250">
                    <a:solidFill>
                      <a:srgbClr val="FFFFFF"/>
                    </a:solidFill>
                  </a:tcPr>
                </a:tc>
              </a:tr>
              <a:tr h="438150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1D2A4D"/>
                          </a:solidFill>
                          <a:latin typeface="Segoe UI"/>
                        </a:rPr>
                        <a:t>Rok pierwszy łącznie</a:t>
                      </a:r>
                    </a:p>
                  </a:txBody>
                  <a:tcPr marL="95250" marR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1D2A4D"/>
                          </a:solidFill>
                          <a:latin typeface="Segoe UI"/>
                        </a:rPr>
                        <a:t>57 000 zł</a:t>
                      </a:r>
                    </a:p>
                  </a:txBody>
                  <a:tcPr marL="95250" marR="9525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609600" y="3943350"/>
            <a:ext cx="28575" cy="495300"/>
          </a:xfrm>
          <a:prstGeom prst="rect">
            <a:avLst/>
          </a:prstGeom>
          <a:solidFill>
            <a:srgbClr val="1FC8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23900" y="3943350"/>
            <a:ext cx="3365500" cy="4953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</a:pPr>
            <a:r>
              <a:rPr sz="1150" b="0">
                <a:solidFill>
                  <a:srgbClr val="1E293B"/>
                </a:solidFill>
                <a:latin typeface="Segoe UI"/>
              </a:rPr>
              <a:t>Bez opłat za użytkownika i bez opłat za liczbę dokumentów.</a:t>
            </a:r>
          </a:p>
        </p:txBody>
      </p:sp>
      <p:sp>
        <p:nvSpPr>
          <p:cNvPr id="9" name="Rectangle 8"/>
          <p:cNvSpPr/>
          <p:nvPr/>
        </p:nvSpPr>
        <p:spPr>
          <a:xfrm>
            <a:off x="4356100" y="3943350"/>
            <a:ext cx="28575" cy="495300"/>
          </a:xfrm>
          <a:prstGeom prst="rect">
            <a:avLst/>
          </a:prstGeom>
          <a:solidFill>
            <a:srgbClr val="1FC8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70400" y="3943350"/>
            <a:ext cx="3365500" cy="4953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</a:pPr>
            <a:r>
              <a:rPr sz="1150" b="0">
                <a:solidFill>
                  <a:srgbClr val="1E293B"/>
                </a:solidFill>
                <a:latin typeface="Segoe UI"/>
              </a:rPr>
              <a:t>Sprzęt zostaje Wasz — nie płacicie abonamentu za dostęp do własnych danych.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02600" y="3943350"/>
            <a:ext cx="28575" cy="495300"/>
          </a:xfrm>
          <a:prstGeom prst="rect">
            <a:avLst/>
          </a:prstGeom>
          <a:solidFill>
            <a:srgbClr val="1FC8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16900" y="3943350"/>
            <a:ext cx="3365500" cy="4953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</a:pPr>
            <a:r>
              <a:rPr sz="1150" b="0">
                <a:solidFill>
                  <a:srgbClr val="1E293B"/>
                </a:solidFill>
                <a:latin typeface="Segoe UI"/>
              </a:rPr>
              <a:t>Trzy lata użytkowania: 81 000 zł netto.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9600" y="5676900"/>
            <a:ext cx="10972800" cy="590550"/>
          </a:xfrm>
          <a:prstGeom prst="roundRect">
            <a:avLst>
              <a:gd name="adj" fmla="val 6000"/>
            </a:avLst>
          </a:prstGeom>
          <a:solidFill>
            <a:srgbClr val="1D2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9550" tIns="0"/>
          <a:lstStyle/>
          <a:p>
            <a:pPr algn="l">
              <a:lnSpc>
                <a:spcPct val="125000"/>
              </a:lnSpc>
            </a:pPr>
            <a:r>
              <a:rPr sz="1650" b="1">
                <a:solidFill>
                  <a:srgbClr val="FFFFFF"/>
                </a:solidFill>
                <a:latin typeface="Segoe UI"/>
              </a:rPr>
              <a:t>Następny krok: dwutygodniowe uruchomienie próbne na Waszych dokumentach kadrowych — u Was, bez zobowiązania.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9600" y="5676900"/>
            <a:ext cx="57150" cy="590550"/>
          </a:xfrm>
          <a:prstGeom prst="rect">
            <a:avLst/>
          </a:prstGeom>
          <a:solidFill>
            <a:srgbClr val="1FC8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457200"/>
            <a:ext cx="10477500" cy="571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3000" b="1">
                <a:solidFill>
                  <a:srgbClr val="1D2A4D"/>
                </a:solidFill>
                <a:latin typeface="Segoe UI"/>
              </a:rPr>
              <a:t>Zapraszamy do kontaktu</a:t>
            </a:r>
          </a:p>
        </p:txBody>
      </p:sp>
      <p:sp>
        <p:nvSpPr>
          <p:cNvPr id="3" name="Rectangle 2"/>
          <p:cNvSpPr/>
          <p:nvPr/>
        </p:nvSpPr>
        <p:spPr>
          <a:xfrm>
            <a:off x="609600" y="1123950"/>
            <a:ext cx="609600" cy="47625"/>
          </a:xfrm>
          <a:prstGeom prst="rect">
            <a:avLst/>
          </a:prstGeom>
          <a:solidFill>
            <a:srgbClr val="1FC8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6534150"/>
            <a:ext cx="47625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950" b="0">
                <a:solidFill>
                  <a:srgbClr val="94A3B8"/>
                </a:solidFill>
                <a:latin typeface="Segoe UI"/>
              </a:rPr>
              <a:t>ZCO Document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39500" y="6534150"/>
            <a:ext cx="5715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50" b="0">
                <a:solidFill>
                  <a:srgbClr val="94A3B8"/>
                </a:solidFill>
                <a:latin typeface="Segoe UI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1619250"/>
            <a:ext cx="5715000" cy="2476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700" b="0">
                <a:solidFill>
                  <a:srgbClr val="1E293B"/>
                </a:solidFill>
                <a:latin typeface="Segoe UI"/>
              </a:rPr>
              <a:t>Czekają na Was: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9600" y="1981200"/>
            <a:ext cx="5353050" cy="125730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09600" y="1981200"/>
            <a:ext cx="57150" cy="1257300"/>
          </a:xfrm>
          <a:prstGeom prst="rect">
            <a:avLst/>
          </a:prstGeom>
          <a:solidFill>
            <a:srgbClr val="0F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33450" y="2266950"/>
            <a:ext cx="685800" cy="685800"/>
          </a:xfrm>
          <a:prstGeom prst="ellipse">
            <a:avLst/>
          </a:prstGeom>
          <a:solidFill>
            <a:srgbClr val="1D2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Segoe UI"/>
              </a:rPr>
              <a:t>PP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09750" y="2247900"/>
            <a:ext cx="3924300" cy="857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900" b="1">
                <a:solidFill>
                  <a:srgbClr val="1D2A4D"/>
                </a:solidFill>
                <a:latin typeface="Segoe UI"/>
              </a:rPr>
              <a:t>Piotr Piątek</a:t>
            </a:r>
          </a:p>
          <a:p>
            <a:pPr>
              <a:lnSpc>
                <a:spcPct val="125000"/>
              </a:lnSpc>
            </a:pPr>
            <a:r>
              <a:rPr sz="1250" b="0">
                <a:solidFill>
                  <a:srgbClr val="64748B"/>
                </a:solidFill>
                <a:latin typeface="Segoe UI"/>
              </a:rPr>
              <a:t>wyceny, umowa</a:t>
            </a:r>
          </a:p>
          <a:p>
            <a:pPr>
              <a:lnSpc>
                <a:spcPct val="130000"/>
              </a:lnSpc>
            </a:pPr>
            <a:r>
              <a:rPr sz="1800" b="1">
                <a:solidFill>
                  <a:srgbClr val="0F9B8E"/>
                </a:solidFill>
                <a:latin typeface="Segoe UI"/>
              </a:rPr>
              <a:t>tel. 501 674 303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29350" y="1981200"/>
            <a:ext cx="5353050" cy="125730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29350" y="1981200"/>
            <a:ext cx="57150" cy="1257300"/>
          </a:xfrm>
          <a:prstGeom prst="rect">
            <a:avLst/>
          </a:prstGeom>
          <a:solidFill>
            <a:srgbClr val="0F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553200" y="2266950"/>
            <a:ext cx="685800" cy="685800"/>
          </a:xfrm>
          <a:prstGeom prst="ellipse">
            <a:avLst/>
          </a:prstGeom>
          <a:solidFill>
            <a:srgbClr val="1D2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Segoe UI"/>
              </a:rPr>
              <a:t>MC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29500" y="2247900"/>
            <a:ext cx="3924300" cy="857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900" b="1">
                <a:solidFill>
                  <a:srgbClr val="1D2A4D"/>
                </a:solidFill>
                <a:latin typeface="Segoe UI"/>
              </a:rPr>
              <a:t>Marcin Cieślak</a:t>
            </a:r>
          </a:p>
          <a:p>
            <a:pPr>
              <a:lnSpc>
                <a:spcPct val="125000"/>
              </a:lnSpc>
            </a:pPr>
            <a:r>
              <a:rPr sz="1250" b="0">
                <a:solidFill>
                  <a:srgbClr val="64748B"/>
                </a:solidFill>
                <a:latin typeface="Segoe UI"/>
              </a:rPr>
              <a:t>sprawy techniczne</a:t>
            </a:r>
          </a:p>
          <a:p>
            <a:pPr>
              <a:lnSpc>
                <a:spcPct val="130000"/>
              </a:lnSpc>
            </a:pPr>
            <a:r>
              <a:rPr sz="1800" b="1">
                <a:solidFill>
                  <a:srgbClr val="0F9B8E"/>
                </a:solidFill>
                <a:latin typeface="Segoe UI"/>
              </a:rPr>
              <a:t>tel. 602 220 693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9600" y="3429000"/>
            <a:ext cx="109728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9600" y="3581400"/>
            <a:ext cx="7620000" cy="2476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350" b="1">
                <a:solidFill>
                  <a:srgbClr val="1D2A4D"/>
                </a:solidFill>
                <a:latin typeface="Segoe UI"/>
              </a:rPr>
              <a:t>Polmedi Group sp. z o.o. · Poznań · polmedi.com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9600" y="5676900"/>
            <a:ext cx="10972800" cy="590550"/>
          </a:xfrm>
          <a:prstGeom prst="roundRect">
            <a:avLst>
              <a:gd name="adj" fmla="val 6000"/>
            </a:avLst>
          </a:prstGeom>
          <a:solidFill>
            <a:srgbClr val="1D2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9550" tIns="0"/>
          <a:lstStyle/>
          <a:p>
            <a:pPr algn="l">
              <a:lnSpc>
                <a:spcPct val="125000"/>
              </a:lnSpc>
            </a:pPr>
            <a:r>
              <a:rPr sz="1650" b="1">
                <a:solidFill>
                  <a:srgbClr val="FFFFFF"/>
                </a:solidFill>
                <a:latin typeface="Segoe UI"/>
              </a:rPr>
              <a:t>Jesteśmy tu dla Was.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9600" y="5676900"/>
            <a:ext cx="57150" cy="590550"/>
          </a:xfrm>
          <a:prstGeom prst="rect">
            <a:avLst/>
          </a:prstGeom>
          <a:solidFill>
            <a:srgbClr val="1FC8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