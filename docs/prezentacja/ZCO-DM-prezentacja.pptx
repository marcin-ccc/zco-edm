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163" y="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30EEE-10FC-4B65-BFC9-AE1422590B2D}" type="datetimeFigureOut">
              <a:rPr lang="pl-PL" smtClean="0"/>
              <a:t>30.07.2026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CEC45-6452-453C-BF24-70839C0FD37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5740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 nie brak dokumentów, tylko czas dostępu i pewność wersji. Każde „gdzie to jest?” kosztuje dwie osoby — pytającego i tę, która odpowiada.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Trzy drogi do dokumentu: przeglądanie, pytanie o treść, wyszukiwanie po opisie. Pracownik wybiera bliższą sobie.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Tu jest różnica wobec chmury: pytanie o dokument kadrowy nie wychodzi z organizacji. Przez sieć idzie tylko ruch przeglądarka–serwer.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Jak cytowanie w publikacji — każde twierdzenie sprawdzalne w dwie sekundy. Warunek konieczny przy procedurach medycznych.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Liczby z działającego wdrożenia, nie z folderu producenta. Pojemność ogranicza dysk, nie wydajność. Urządzenie wielkości książki, pobór prądu jak stacja robocza.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Sprawdzianem jest osoba, która nie chce uczyć się nowego programu. Kto umie korzystać z wyszukiwarki, umie korzystać z tego.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 sam system sprawdzi się wszędzie tam, gdzie jest duży zasób dokumentów wewnętrznych.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Najczęstszy powód, dla którego takie systemy umierają, to pusty start. Ostatni punkt to plan — tych elementów nie ma jeszcze w wersji pokazywanej dziś.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Nie proszę o decyzję zakupową, tylko o test na własnych dokumentach. Jeśli po dwóch tygodniach kadry powiedzą, że to nie pomaga — rozstajemy się bez kosztów.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Zostawiam wizytówki. Do Piotra dzwonicie w sprawie wyceny i umowy, do mnie — gdy pytanie jest techniczne. Odpowiadamy tego samego dnia.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343150"/>
            <a:ext cx="838200" cy="571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2686050"/>
            <a:ext cx="9525000" cy="857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733800"/>
            <a:ext cx="8191500" cy="76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900" b="0">
                <a:solidFill>
                  <a:srgbClr val="1FC8BA"/>
                </a:solidFill>
                <a:latin typeface="Segoe UI"/>
              </a:rPr>
              <a:t>Pytasz jak człowieka. Odpowiada z Waszych dokumentów.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1FC8BA"/>
                </a:solidFill>
                <a:latin typeface="Segoe UI"/>
              </a:rPr>
              <a:t>Nic nie wychodzi poza szpital.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924550"/>
            <a:ext cx="666750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E2E8F0"/>
                </a:solidFill>
                <a:latin typeface="Segoe UI"/>
              </a:rPr>
              <a:t>Polmedi Group sp. z o.o. · Poznań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Wersja aplikacji 1.0.2 · 30 lipca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Problem, który znają wszyscy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6954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200" y="16192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Dokument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jest —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tylko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nie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wiadomo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, w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którym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folderze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i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która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wersja</a:t>
            </a:r>
            <a:r>
              <a:rPr sz="1700" b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700" b="0" dirty="0" err="1">
                <a:solidFill>
                  <a:srgbClr val="1E293B"/>
                </a:solidFill>
                <a:latin typeface="Segoe UI"/>
              </a:rPr>
              <a:t>obowiązuje</a:t>
            </a:r>
            <a:endParaRPr sz="1700" b="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8" name="Oval 7"/>
          <p:cNvSpPr/>
          <p:nvPr/>
        </p:nvSpPr>
        <p:spPr>
          <a:xfrm>
            <a:off x="609600" y="21336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200" y="20574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Nowy pracownik pyta koleżankę zamiast szukać w regulaminie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25717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200" y="24955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Ta sama odpowiedź udzielana dziesiątki razy przez kadry i dział jakości</a:t>
            </a:r>
          </a:p>
        </p:txBody>
      </p:sp>
      <p:sp>
        <p:nvSpPr>
          <p:cNvPr id="12" name="Oval 11"/>
          <p:cNvSpPr/>
          <p:nvPr/>
        </p:nvSpPr>
        <p:spPr>
          <a:xfrm>
            <a:off x="609600" y="30099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8200" y="29337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Przy akredytacji i kontroli liczy się czas dotarcia do właściwego zapisu</a:t>
            </a:r>
          </a:p>
        </p:txBody>
      </p:sp>
      <p:sp>
        <p:nvSpPr>
          <p:cNvPr id="14" name="Oval 13"/>
          <p:cNvSpPr/>
          <p:nvPr/>
        </p:nvSpPr>
        <p:spPr>
          <a:xfrm>
            <a:off x="609600" y="3448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200" y="33718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Chmura odpada: dokumenty wewnętrzne nie mogą trafiać do zewnętrznego dostawcy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Wiedza jest w dokumentach. Problemem jest droga do niej.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Co dostajecie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6954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200" y="16192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Repozytorium — foldery, uprawnienia, statusy przetwarzania</a:t>
            </a:r>
          </a:p>
        </p:txBody>
      </p:sp>
      <p:sp>
        <p:nvSpPr>
          <p:cNvPr id="8" name="Oval 7"/>
          <p:cNvSpPr/>
          <p:nvPr/>
        </p:nvSpPr>
        <p:spPr>
          <a:xfrm>
            <a:off x="609600" y="24193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200" y="23431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Baza wiedzy — pytanie zwykłym językiem, odpowiedź z odnośnikami do stron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31432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200" y="30670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Wyszukiwarka po polach — „zarządzenia z 2024”, „procedury zatwierdzone przez…”</a:t>
            </a:r>
          </a:p>
        </p:txBody>
      </p:sp>
      <p:sp>
        <p:nvSpPr>
          <p:cNvPr id="12" name="Oval 11"/>
          <p:cNvSpPr/>
          <p:nvPr/>
        </p:nvSpPr>
        <p:spPr>
          <a:xfrm>
            <a:off x="609600" y="3867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8200" y="37909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Automatyczne rozpoznawanie — rodzaj pisma, numer, data, osoba zatwierdzająca</a:t>
            </a:r>
          </a:p>
        </p:txBody>
      </p:sp>
      <p:sp>
        <p:nvSpPr>
          <p:cNvPr id="14" name="Oval 13"/>
          <p:cNvSpPr/>
          <p:nvPr/>
        </p:nvSpPr>
        <p:spPr>
          <a:xfrm>
            <a:off x="609600" y="4591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200" y="45148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Instrukcja obsługi wbudowana w aplikację</a:t>
            </a:r>
          </a:p>
        </p:txBody>
      </p:sp>
      <p:pic>
        <p:nvPicPr>
          <p:cNvPr id="16" name="Picture 15" descr="a02-pli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676400"/>
            <a:ext cx="4914900" cy="30718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Trzy drogi do dokumentu — pracownik wybiera tę, która jest mu bliższa.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Bezpieczeństwo i prywatność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19250"/>
            <a:ext cx="7620000" cy="18097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" y="179070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FC8BA"/>
                </a:solidFill>
                <a:latin typeface="Segoe UI"/>
              </a:rPr>
              <a:t>SZPITAL · WASZA SERWEROWNIA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" y="2114550"/>
            <a:ext cx="2336800" cy="1123950"/>
          </a:xfrm>
          <a:prstGeom prst="roundRect">
            <a:avLst>
              <a:gd name="adj" fmla="val 6000"/>
            </a:avLst>
          </a:prstGeom>
          <a:solidFill>
            <a:srgbClr val="2A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2500" y="2286000"/>
            <a:ext cx="2032000" cy="857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Aplikacja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CBD5E1"/>
                </a:solidFill>
                <a:latin typeface="Segoe UI"/>
              </a:rPr>
              <a:t>przeglądarka pracownika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1200" y="2114550"/>
            <a:ext cx="2336800" cy="1123950"/>
          </a:xfrm>
          <a:prstGeom prst="roundRect">
            <a:avLst>
              <a:gd name="adj" fmla="val 6000"/>
            </a:avLst>
          </a:prstGeom>
          <a:solidFill>
            <a:srgbClr val="2A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03600" y="2286000"/>
            <a:ext cx="2032000" cy="857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Model językowy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CBD5E1"/>
                </a:solidFill>
                <a:latin typeface="Segoe UI"/>
              </a:rPr>
              <a:t>działa na Waszym urządzeniu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02300" y="2114550"/>
            <a:ext cx="2336800" cy="1123950"/>
          </a:xfrm>
          <a:prstGeom prst="roundRect">
            <a:avLst>
              <a:gd name="adj" fmla="val 6000"/>
            </a:avLst>
          </a:prstGeom>
          <a:solidFill>
            <a:srgbClr val="2A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4700" y="2286000"/>
            <a:ext cx="2032000" cy="857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Dokumenty i indeks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CBD5E1"/>
                </a:solidFill>
                <a:latin typeface="Segoe UI"/>
              </a:rPr>
              <a:t>dysk w serwerowni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24900" y="1847850"/>
            <a:ext cx="0" cy="914400"/>
          </a:xfrm>
          <a:prstGeom prst="rect">
            <a:avLst/>
          </a:prstGeom>
          <a:ln w="38100">
            <a:solidFill>
              <a:srgbClr val="0F9B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2876550"/>
            <a:ext cx="990600" cy="5301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dirty="0" err="1">
                <a:solidFill>
                  <a:srgbClr val="0F9B8E"/>
                </a:solidFill>
                <a:latin typeface="Segoe UI"/>
              </a:rPr>
              <a:t>brak</a:t>
            </a:r>
            <a:r>
              <a:rPr sz="950" b="1" dirty="0">
                <a:solidFill>
                  <a:srgbClr val="0F9B8E"/>
                </a:solidFill>
                <a:latin typeface="Segoe UI"/>
              </a:rPr>
              <a:t> </a:t>
            </a:r>
            <a:r>
              <a:rPr sz="950" b="1" dirty="0" err="1">
                <a:solidFill>
                  <a:srgbClr val="0F9B8E"/>
                </a:solidFill>
                <a:latin typeface="Segoe UI"/>
              </a:rPr>
              <a:t>połączenia</a:t>
            </a:r>
            <a:r>
              <a:rPr sz="950" b="1" dirty="0">
                <a:solidFill>
                  <a:srgbClr val="0F9B8E"/>
                </a:solidFill>
                <a:latin typeface="Segoe UI"/>
              </a:rPr>
              <a:t> </a:t>
            </a:r>
            <a:br>
              <a:rPr lang="pl-PL" sz="950" b="1" dirty="0">
                <a:solidFill>
                  <a:srgbClr val="0F9B8E"/>
                </a:solidFill>
                <a:latin typeface="Segoe UI"/>
              </a:rPr>
            </a:br>
            <a:r>
              <a:rPr sz="950" b="1" dirty="0">
                <a:solidFill>
                  <a:srgbClr val="0F9B8E"/>
                </a:solidFill>
                <a:latin typeface="Segoe UI"/>
              </a:rPr>
              <a:t>z </a:t>
            </a:r>
            <a:r>
              <a:rPr sz="950" b="1" dirty="0" err="1">
                <a:solidFill>
                  <a:srgbClr val="0F9B8E"/>
                </a:solidFill>
                <a:latin typeface="Segoe UI"/>
              </a:rPr>
              <a:t>usługami</a:t>
            </a:r>
            <a:r>
              <a:rPr sz="950" b="1" dirty="0">
                <a:solidFill>
                  <a:srgbClr val="0F9B8E"/>
                </a:solidFill>
                <a:latin typeface="Segoe UI"/>
              </a:rPr>
              <a:t> </a:t>
            </a:r>
            <a:r>
              <a:rPr sz="950" b="1" dirty="0" err="1">
                <a:solidFill>
                  <a:srgbClr val="0F9B8E"/>
                </a:solidFill>
                <a:latin typeface="Segoe UI"/>
              </a:rPr>
              <a:t>zewnętrznymi</a:t>
            </a:r>
            <a:endParaRPr sz="950" b="1" dirty="0">
              <a:solidFill>
                <a:srgbClr val="0F9B8E"/>
              </a:solidFill>
              <a:latin typeface="Segoe U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39250" y="1619250"/>
            <a:ext cx="2343150" cy="18097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91650" y="2057400"/>
            <a:ext cx="203835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Internet</a:t>
            </a:r>
          </a:p>
          <a:p>
            <a:pPr algn="ctr">
              <a:lnSpc>
                <a:spcPct val="135000"/>
              </a:lnSpc>
            </a:pPr>
            <a:r>
              <a:rPr sz="1050" b="0">
                <a:solidFill>
                  <a:srgbClr val="1E293B"/>
                </a:solidFill>
                <a:latin typeface="Segoe UI"/>
              </a:rPr>
              <a:t>nie wychodzi tu żaden dokument, fragment ani pytanie</a:t>
            </a:r>
          </a:p>
        </p:txBody>
      </p:sp>
      <p:sp>
        <p:nvSpPr>
          <p:cNvPr id="18" name="Oval 17"/>
          <p:cNvSpPr/>
          <p:nvPr/>
        </p:nvSpPr>
        <p:spPr>
          <a:xfrm>
            <a:off x="609600" y="38100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200" y="37338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Dostęp do folderów nadawany rolom — użytkownik widzi tylko swoje, także w czacie</a:t>
            </a:r>
          </a:p>
        </p:txBody>
      </p:sp>
      <p:sp>
        <p:nvSpPr>
          <p:cNvPr id="20" name="Oval 19"/>
          <p:cNvSpPr/>
          <p:nvPr/>
        </p:nvSpPr>
        <p:spPr>
          <a:xfrm>
            <a:off x="609600" y="4248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200" y="41719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Historia pytań prywatna; administrator widzi statystyki, nie cudze rozmowy</a:t>
            </a:r>
          </a:p>
        </p:txBody>
      </p:sp>
      <p:sp>
        <p:nvSpPr>
          <p:cNvPr id="22" name="Oval 21"/>
          <p:cNvSpPr/>
          <p:nvPr/>
        </p:nvSpPr>
        <p:spPr>
          <a:xfrm>
            <a:off x="609600" y="46863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8200" y="46101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Automatyczne wylogowanie po bezczynności, zmiana hasła za potwierdzeniem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Żaden dokument, fragment ani pytanie nie opuszcza Waszej sieci.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Skąd pewność, że odpowiedź jest prawdziwa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62000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095500"/>
            <a:ext cx="2252662" cy="666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Pytanie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zwykłym językiem, np. „jak rozliczyć delegację?”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5162" y="2114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F9B8E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4712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7112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7112" y="2095500"/>
            <a:ext cx="2252662" cy="666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Wyszukanie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system znajduje fragmenty w Waszych plikach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0275" y="2114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F9B8E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9825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72225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095500"/>
            <a:ext cx="2252662" cy="666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Odpowiedź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zbudowana wyłącznie z tych fragmentów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5387" y="2114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F9B8E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4937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77337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37" y="2095500"/>
            <a:ext cx="2252662" cy="666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Dowód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numer przy zdaniu prowadzi do dokumentu i strony</a:t>
            </a:r>
          </a:p>
        </p:txBody>
      </p:sp>
      <p:sp>
        <p:nvSpPr>
          <p:cNvPr id="21" name="Oval 20"/>
          <p:cNvSpPr/>
          <p:nvPr/>
        </p:nvSpPr>
        <p:spPr>
          <a:xfrm>
            <a:off x="609600" y="32385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8200" y="31623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Odpowiedź powstaje wyłącznie z fragmentów Waszych plików</a:t>
            </a:r>
          </a:p>
        </p:txBody>
      </p:sp>
      <p:sp>
        <p:nvSpPr>
          <p:cNvPr id="23" name="Oval 22"/>
          <p:cNvSpPr/>
          <p:nvPr/>
        </p:nvSpPr>
        <p:spPr>
          <a:xfrm>
            <a:off x="609600" y="36766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200" y="36004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Brak dopasowania = jasny komunikat zamiast wymyślonej treści</a:t>
            </a:r>
          </a:p>
        </p:txBody>
      </p:sp>
      <p:sp>
        <p:nvSpPr>
          <p:cNvPr id="25" name="Oval 24"/>
          <p:cNvSpPr/>
          <p:nvPr/>
        </p:nvSpPr>
        <p:spPr>
          <a:xfrm>
            <a:off x="609600" y="41148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200" y="40386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Widać też, ile dokumentów sprawdzono i z których nie skorzystano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Nie trzeba wierzyć systemowi — każde zdanie sprawdzicie w źródle.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Pojemność i szybkość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19250"/>
            <a:ext cx="3543300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200" y="1828800"/>
            <a:ext cx="3086100" cy="952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400" b="1">
                <a:solidFill>
                  <a:srgbClr val="1D2A4D"/>
                </a:solidFill>
                <a:latin typeface="Segoe UI"/>
              </a:rPr>
              <a:t>128 GB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1E293B"/>
                </a:solidFill>
                <a:latin typeface="Segoe UI"/>
              </a:rPr>
              <a:t>pamięci dla modelu</a:t>
            </a:r>
          </a:p>
          <a:p>
            <a:pPr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jedno urządzenie obsługuje cały szpital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4350" y="1619250"/>
            <a:ext cx="3543300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2950" y="1828800"/>
            <a:ext cx="3086100" cy="952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400" b="1">
                <a:solidFill>
                  <a:srgbClr val="1D2A4D"/>
                </a:solidFill>
                <a:latin typeface="Segoe UI"/>
              </a:rPr>
              <a:t>4 TB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1E293B"/>
                </a:solidFill>
                <a:latin typeface="Segoe UI"/>
              </a:rPr>
              <a:t>na dokumenty</a:t>
            </a:r>
          </a:p>
          <a:p>
            <a:pPr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setki tysięcy plików biurowych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9100" y="1619250"/>
            <a:ext cx="3543300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7700" y="1828800"/>
            <a:ext cx="3086100" cy="952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400" b="1">
                <a:solidFill>
                  <a:srgbClr val="1D2A4D"/>
                </a:solidFill>
                <a:latin typeface="Segoe UI"/>
              </a:rPr>
              <a:t>~1 s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1E293B"/>
                </a:solidFill>
                <a:latin typeface="Segoe UI"/>
              </a:rPr>
              <a:t>do pierwszego słowa odpowiedzi</a:t>
            </a:r>
          </a:p>
          <a:p>
            <a:pPr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cała odpowiedź gotowa w ok. 15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067050"/>
            <a:ext cx="3810000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1">
                <a:solidFill>
                  <a:srgbClr val="1D2A4D"/>
                </a:solidFill>
                <a:latin typeface="Segoe UI"/>
              </a:rPr>
              <a:t>Ile to trwa w praktyce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333750"/>
            <a:ext cx="2857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E293B"/>
                </a:solidFill>
                <a:latin typeface="Segoe UI"/>
              </a:rPr>
              <a:t>Czas do rozpoczęcia odpowiedzi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350" y="3352800"/>
            <a:ext cx="98425" cy="142875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0" y="333375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E293B"/>
                </a:solidFill>
                <a:latin typeface="Segoe UI"/>
              </a:rPr>
              <a:t>ok. 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619500"/>
            <a:ext cx="2857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E293B"/>
                </a:solidFill>
                <a:latin typeface="Segoe UI"/>
              </a:rPr>
              <a:t>Czas utworzenia całej odpowiedzi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2350" y="3638550"/>
            <a:ext cx="1476375" cy="142875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0" y="36195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E293B"/>
                </a:solidFill>
                <a:latin typeface="Segoe UI"/>
              </a:rPr>
              <a:t>ok. 15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905250"/>
            <a:ext cx="2857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E293B"/>
                </a:solidFill>
                <a:latin typeface="Segoe UI"/>
              </a:rPr>
              <a:t>Przygotowanie dokumentu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2350" y="3924300"/>
            <a:ext cx="5905500" cy="14287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0" y="390525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E293B"/>
                </a:solidFill>
                <a:latin typeface="Segoe UI"/>
              </a:rPr>
              <a:t>średnio ok. 60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248150"/>
            <a:ext cx="104775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solidFill>
                  <a:srgbClr val="64748B"/>
                </a:solidFill>
                <a:latin typeface="Segoe UI"/>
              </a:rPr>
              <a:t>Długość słupka odpowiada czasowi. Pomiary z działającego wdrożenia demonstracyjnego; przygotowanie dokumentu odbywa się raz, w tle, przy wgraniu pliku.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Baza rośnie, czas odpowiedzi stoi w miejscu.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Łatwość obsługi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6954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200" y="16192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Przeglądarka — nic do instalowania na komputerach pracowników</a:t>
            </a:r>
          </a:p>
        </p:txBody>
      </p:sp>
      <p:sp>
        <p:nvSpPr>
          <p:cNvPr id="8" name="Oval 7"/>
          <p:cNvSpPr/>
          <p:nvPr/>
        </p:nvSpPr>
        <p:spPr>
          <a:xfrm>
            <a:off x="609600" y="24193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200" y="23431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Trzy ekrany: Dashboard, Pliki, Baza wiedzy. Administracja tylko dla administratora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31432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200" y="30670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Pytanie potoczne działa: „delegacja” znajdzie „podróż służbową”, „L4” — „zwolnienie lekarskie”</a:t>
            </a:r>
          </a:p>
        </p:txBody>
      </p:sp>
      <p:sp>
        <p:nvSpPr>
          <p:cNvPr id="12" name="Oval 11"/>
          <p:cNvSpPr/>
          <p:nvPr/>
        </p:nvSpPr>
        <p:spPr>
          <a:xfrm>
            <a:off x="609600" y="3867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8200" y="37909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Wystarczy sama nazwa dokumentu, żeby dostać jego opis i odnośnik</a:t>
            </a:r>
          </a:p>
        </p:txBody>
      </p:sp>
      <p:sp>
        <p:nvSpPr>
          <p:cNvPr id="14" name="Oval 13"/>
          <p:cNvSpPr/>
          <p:nvPr/>
        </p:nvSpPr>
        <p:spPr>
          <a:xfrm>
            <a:off x="609600" y="4591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200" y="4514850"/>
            <a:ext cx="56769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Szkolenie pracownika: 20 minut. Instrukcja w aplikacji, pod przyciskiem Pomoc</a:t>
            </a:r>
          </a:p>
        </p:txBody>
      </p:sp>
      <p:pic>
        <p:nvPicPr>
          <p:cNvPr id="16" name="Picture 15" descr="a08-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676400"/>
            <a:ext cx="4914900" cy="30718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Kto umie korzystać z wyszukiwarki internetowej, umie korzystać z tego.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Gdzie to pracuje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19250"/>
            <a:ext cx="3568700" cy="7810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" y="1771650"/>
            <a:ext cx="31877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Kadry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regulaminy, wnioski, PPK, ZFŚS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1650" y="1619250"/>
            <a:ext cx="3568700" cy="7810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2150" y="1771650"/>
            <a:ext cx="31877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Jakość i akredytacja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procedury, instrukcje, wersje obowiązujące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3700" y="1619250"/>
            <a:ext cx="3568700" cy="7810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4200" y="1771650"/>
            <a:ext cx="31877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Personel medyczny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procedury kliniczne i pielęgniarskie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2533650"/>
            <a:ext cx="3568700" cy="7810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0100" y="2686050"/>
            <a:ext cx="31877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Administracja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umowy, zarządzenia, przetargi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1650" y="2533650"/>
            <a:ext cx="3568700" cy="7810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2150" y="2686050"/>
            <a:ext cx="31877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BHP · RODO · IT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polityki i instrukcje wewnętrzne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3700" y="2533650"/>
            <a:ext cx="3568700" cy="7810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04200" y="2686050"/>
            <a:ext cx="31877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Poza szpitalem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uczelnie, urzędy, kancelarie, produkcja</a:t>
            </a:r>
          </a:p>
        </p:txBody>
      </p:sp>
      <p:sp>
        <p:nvSpPr>
          <p:cNvPr id="18" name="Oval 17"/>
          <p:cNvSpPr/>
          <p:nvPr/>
        </p:nvSpPr>
        <p:spPr>
          <a:xfrm>
            <a:off x="609600" y="36385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200" y="35623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Zaczynamy zwykle od kadr — tam pytania powtarzają się najczęściej, efekt widać w pierwszym tygodniu</a:t>
            </a:r>
          </a:p>
        </p:txBody>
      </p:sp>
      <p:sp>
        <p:nvSpPr>
          <p:cNvPr id="20" name="Oval 19"/>
          <p:cNvSpPr/>
          <p:nvPr/>
        </p:nvSpPr>
        <p:spPr>
          <a:xfrm>
            <a:off x="609600" y="40767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200" y="40005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Rozszerzenie na kolejny dział to wgranie dokumentów i nadanie uprawnień, nie nowe wdrożenie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Kolejny dział to wgranie dokumentów, a nie nowe wdrożenie.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Nasza rola: wdrożenie i wsparcie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19250"/>
            <a:ext cx="28575" cy="9906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52450" y="1657350"/>
            <a:ext cx="142875" cy="142875"/>
          </a:xfrm>
          <a:prstGeom prst="ellipse">
            <a:avLst/>
          </a:prstGeom>
          <a:solidFill>
            <a:srgbClr val="0F9B8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2000" y="1638300"/>
            <a:ext cx="3340100" cy="952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0F9B8E"/>
                </a:solidFill>
                <a:latin typeface="Segoe UI"/>
              </a:rPr>
              <a:t>TYDZIEŃ 1</a:t>
            </a:r>
          </a:p>
          <a:p>
            <a:pPr>
              <a:lnSpc>
                <a:spcPct val="125000"/>
              </a:lnSpc>
            </a:pPr>
            <a:r>
              <a:rPr sz="1500" b="1">
                <a:solidFill>
                  <a:srgbClr val="1D2A4D"/>
                </a:solidFill>
                <a:latin typeface="Segoe UI"/>
              </a:rPr>
              <a:t>Instalacja i uruchomienie</a:t>
            </a:r>
          </a:p>
          <a:p>
            <a:pPr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urządzenie w serwerowni, konta, uprawnienia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1650" y="1619250"/>
            <a:ext cx="28575" cy="9906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254500" y="1657350"/>
            <a:ext cx="142875" cy="142875"/>
          </a:xfrm>
          <a:prstGeom prst="ellipse">
            <a:avLst/>
          </a:prstGeom>
          <a:solidFill>
            <a:srgbClr val="0F9B8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4050" y="1638300"/>
            <a:ext cx="3340100" cy="952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0F9B8E"/>
                </a:solidFill>
                <a:latin typeface="Segoe UI"/>
              </a:rPr>
              <a:t>TYDZIEŃ 2</a:t>
            </a:r>
          </a:p>
          <a:p>
            <a:pPr>
              <a:lnSpc>
                <a:spcPct val="125000"/>
              </a:lnSpc>
            </a:pPr>
            <a:r>
              <a:rPr sz="1500" b="1">
                <a:solidFill>
                  <a:srgbClr val="1D2A4D"/>
                </a:solidFill>
                <a:latin typeface="Segoe UI"/>
              </a:rPr>
              <a:t>Wasze dokumenty i wzorce</a:t>
            </a:r>
          </a:p>
          <a:p>
            <a:pPr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wgrywamy pierwszą partię, układamy schematy pism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3700" y="1619250"/>
            <a:ext cx="28575" cy="9906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956550" y="1657350"/>
            <a:ext cx="142875" cy="142875"/>
          </a:xfrm>
          <a:prstGeom prst="ellipse">
            <a:avLst/>
          </a:prstGeom>
          <a:solidFill>
            <a:srgbClr val="0F9B8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66100" y="1638300"/>
            <a:ext cx="3340100" cy="952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0F9B8E"/>
                </a:solidFill>
                <a:latin typeface="Segoe UI"/>
              </a:rPr>
              <a:t>TYDZIEŃ 3</a:t>
            </a:r>
          </a:p>
          <a:p>
            <a:pPr>
              <a:lnSpc>
                <a:spcPct val="125000"/>
              </a:lnSpc>
            </a:pPr>
            <a:r>
              <a:rPr sz="1500" b="1">
                <a:solidFill>
                  <a:srgbClr val="1D2A4D"/>
                </a:solidFill>
                <a:latin typeface="Segoe UI"/>
              </a:rPr>
              <a:t>Szkolenia i start</a:t>
            </a:r>
          </a:p>
          <a:p>
            <a:pPr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20 min dla użytkownika, 2 h dla administratora</a:t>
            </a:r>
          </a:p>
        </p:txBody>
      </p:sp>
      <p:sp>
        <p:nvSpPr>
          <p:cNvPr id="15" name="Oval 14"/>
          <p:cNvSpPr/>
          <p:nvPr/>
        </p:nvSpPr>
        <p:spPr>
          <a:xfrm>
            <a:off x="609600" y="29908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200" y="29146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Nie zostawiamy pustego systemu — pierwsza partia dokumentów wgrana i sprawdzona przez nas</a:t>
            </a:r>
          </a:p>
        </p:txBody>
      </p:sp>
      <p:sp>
        <p:nvSpPr>
          <p:cNvPr id="17" name="Oval 16"/>
          <p:cNvSpPr/>
          <p:nvPr/>
        </p:nvSpPr>
        <p:spPr>
          <a:xfrm>
            <a:off x="609600" y="34290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200" y="33528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Wzorce pod Wasze pisma — system sam wyciąga numer, datę i osobę zatwierdzającą</a:t>
            </a:r>
          </a:p>
        </p:txBody>
      </p:sp>
      <p:sp>
        <p:nvSpPr>
          <p:cNvPr id="19" name="Oval 18"/>
          <p:cNvSpPr/>
          <p:nvPr/>
        </p:nvSpPr>
        <p:spPr>
          <a:xfrm>
            <a:off x="609600" y="3867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8200" y="379095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Wsparcie miesięczne — aktualizacje, opieka nad jakością odpowiedzi, nowe rodzaje dokumentów</a:t>
            </a:r>
          </a:p>
        </p:txBody>
      </p:sp>
      <p:sp>
        <p:nvSpPr>
          <p:cNvPr id="21" name="Oval 20"/>
          <p:cNvSpPr/>
          <p:nvPr/>
        </p:nvSpPr>
        <p:spPr>
          <a:xfrm>
            <a:off x="609600" y="43053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8200" y="4229100"/>
            <a:ext cx="107442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Kierunek rozwoju (poza obecną wersją): powiązania między dokumentami i wersja obowiązująca, podgląd PDF na cytowanej stronie, logowanie kontem domenowym, integracja z systemem szpitalnym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Przychodzimy z Waszymi dokumentami już w środku.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Warunki i następny krok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1619250"/>
          <a:ext cx="109728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64748B"/>
                          </a:solidFill>
                          <a:latin typeface="Segoe UI"/>
                        </a:rPr>
                        <a:t>POZYCJA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64748B"/>
                          </a:solidFill>
                          <a:latin typeface="Segoe UI"/>
                        </a:rPr>
                        <a:t>NETTO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Sprzęt: NVIDIA DGX Spark — 128 GB pamięci, 4 TB SSD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20 000 zł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Dostawa i wdrożenie oprogramowania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25 000 zł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Wsparcie i rozwój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1 000 zł / mies.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D2A4D"/>
                          </a:solidFill>
                          <a:latin typeface="Segoe UI"/>
                        </a:rPr>
                        <a:t>Rok pierwszy łącznie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D2A4D"/>
                          </a:solidFill>
                          <a:latin typeface="Segoe UI"/>
                        </a:rPr>
                        <a:t>57 000 zł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09600" y="3943350"/>
            <a:ext cx="28575" cy="4953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3900" y="3943350"/>
            <a:ext cx="3365500" cy="4953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1E293B"/>
                </a:solidFill>
                <a:latin typeface="Segoe UI"/>
              </a:rPr>
              <a:t>Bez opłat za użytkownika i bez opłat za liczbę dokumentów.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6100" y="3943350"/>
            <a:ext cx="28575" cy="4953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70400" y="3943350"/>
            <a:ext cx="3365500" cy="4953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1E293B"/>
                </a:solidFill>
                <a:latin typeface="Segoe UI"/>
              </a:rPr>
              <a:t>Sprzęt zostaje Wasz — nie płacicie abonamentu za dostęp do własnych danych.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2600" y="3943350"/>
            <a:ext cx="28575" cy="4953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6900" y="3943350"/>
            <a:ext cx="3365500" cy="4953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1E293B"/>
                </a:solidFill>
                <a:latin typeface="Segoe UI"/>
              </a:rPr>
              <a:t>Trzy lata użytkowania: 81 000 zł netto.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Następny krok: dwutygodniowe uruchomienie próbne na Waszych dokumentach kadrowych — u Was, bez zobowiązania.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477500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Zapraszamy do kontaktu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609600" cy="47625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ZCO Document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619250"/>
            <a:ext cx="571500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Czekają na Was: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81200"/>
            <a:ext cx="5353050" cy="12573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9600" y="1981200"/>
            <a:ext cx="57150" cy="125730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3450" y="2266950"/>
            <a:ext cx="685800" cy="685800"/>
          </a:xfrm>
          <a:prstGeom prst="ellipse">
            <a:avLst/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9750" y="2247900"/>
            <a:ext cx="3924300" cy="857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1D2A4D"/>
                </a:solidFill>
                <a:latin typeface="Segoe UI"/>
              </a:rPr>
              <a:t>Piotr Piątek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wyceny, umowa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0F9B8E"/>
                </a:solidFill>
                <a:latin typeface="Segoe UI"/>
              </a:rPr>
              <a:t>tel. 501 674 303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9350" y="1981200"/>
            <a:ext cx="5353050" cy="12573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9350" y="1981200"/>
            <a:ext cx="57150" cy="125730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53200" y="2266950"/>
            <a:ext cx="685800" cy="685800"/>
          </a:xfrm>
          <a:prstGeom prst="ellipse">
            <a:avLst/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MC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2247900"/>
            <a:ext cx="3924300" cy="857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1D2A4D"/>
                </a:solidFill>
                <a:latin typeface="Segoe UI"/>
              </a:rPr>
              <a:t>Marcin Cieślak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sprawy techniczne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0F9B8E"/>
                </a:solidFill>
                <a:latin typeface="Segoe UI"/>
              </a:rPr>
              <a:t>tel. 602 220 693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429000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600" y="35814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1D2A4D"/>
                </a:solidFill>
                <a:latin typeface="Segoe UI"/>
              </a:rPr>
              <a:t>Polmedi Group sp. z o.o. · Poznań · polmedi.com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0" rtlCol="0" anchor="ctr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Jesteśmy tu dla Was.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6893</TotalTime>
  <Words>1151</Words>
  <Application>Microsoft Office PowerPoint</Application>
  <PresentationFormat>Panoramiczny</PresentationFormat>
  <Paragraphs>168</Paragraphs>
  <Slides>11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Segoe UI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Marcin Cieślak</cp:lastModifiedBy>
  <cp:revision>2</cp:revision>
  <dcterms:created xsi:type="dcterms:W3CDTF">2013-01-27T09:14:16Z</dcterms:created>
  <dcterms:modified xsi:type="dcterms:W3CDTF">2026-08-04T06:42:14Z</dcterms:modified>
  <cp:category/>
</cp:coreProperties>
</file>