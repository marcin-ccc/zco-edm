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5143500" type="screen16x9"/>
  <p:notesSz cx="5143500" cy="9144000"/>
  <p:embeddedFontLst>
    <p:embeddedFont>
      <p:font typeface="Inter Bold" panose="020B0604020202020204" charset="0"/>
      <p:regular r:id="rId18"/>
    </p:embeddedFont>
    <p:embeddedFont>
      <p:font typeface="Montserrat" panose="00000500000000000000" pitchFamily="2" charset="-18"/>
      <p:regular r:id="rId19"/>
      <p:bold r:id="rId20"/>
      <p:italic r:id="rId21"/>
      <p:boldItalic r:id="rId22"/>
    </p:embeddedFont>
    <p:embeddedFont>
      <p:font typeface="Montserrat Bold" panose="00000800000000000000" pitchFamily="2" charset="-18"/>
      <p:regular r:id="rId23"/>
      <p:bold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3" d="100"/>
          <a:sy n="183" d="100"/>
        </p:scale>
        <p:origin x="4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354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9314" y="2010341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MedIndex 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90279"/>
            <a:ext cx="4722763" cy="53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Hospital Information Retrieval System - (</a:t>
            </a:r>
            <a:r>
              <a:rPr lang="en-US" sz="95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HiRS</a:t>
            </a: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Wszystkie informacje w jednym miejscu zawsze pod ręką.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4418"/>
            <a:ext cx="4722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Problem, który znają wszyscy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968499"/>
            <a:ext cx="4722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Wiedza instytucjonalna jest utrwalona w dokumentach. Wyzwaniem pozostaje efektywny i pewny dostęp do właściwej informacji we właściwym czasie.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7237" y="1429457"/>
            <a:ext cx="168622" cy="1686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90417" y="1425997"/>
            <a:ext cx="1932384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Rozproszenie i niespójność wersji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290417" y="1838325"/>
            <a:ext cx="1932384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Dokumenty funkcjonują w wielu lokalizacjach — folderach sieciowych, skrzynkach e-mail, dyskach lokalnych. Pracownicy nie mają pewności, która wersja procedury lub zarządzenia jest aktualnie obowiązująca, co rodzi ryzyko działania na podstawie </a:t>
            </a:r>
            <a:r>
              <a:rPr lang="en-US" sz="85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nieaktualnych</a:t>
            </a: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pl-PL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przepisów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2242" y="1429457"/>
            <a:ext cx="168622" cy="16862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15423" y="1425997"/>
            <a:ext cx="1932459" cy="35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Wiedza nieformalna zamiast dokumentacji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715423" y="1838325"/>
            <a:ext cx="1932459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Nowo zatrudniony personel — zarówno medyczny, jak </a:t>
            </a:r>
            <a:br>
              <a:rPr lang="pl-PL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administracyjny — zamiast sięgać do oficjalnych </a:t>
            </a:r>
            <a:r>
              <a:rPr lang="en-US" sz="8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regulaminów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procedur, pyta doświadczonych współpracowników. Generuje to powtarzalne obciążenie dla </a:t>
            </a:r>
            <a:r>
              <a:rPr lang="en-US" sz="8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kadry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zwiększa ryzyko przekazania </a:t>
            </a: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błędnej lub nieaktualnej informacji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7237" y="3760031"/>
            <a:ext cx="168622" cy="16862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290417" y="3756571"/>
            <a:ext cx="4357464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Presja czasu podczas akredytacji i kontroli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290417" y="3993282"/>
            <a:ext cx="4357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 trakcie wizytacji akredytacyjnych i kontroli zewnętrznych kluczowy jest </a:t>
            </a: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natychmiastowy dostęp do właściwego zapisu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Jednocześnie dokumentacja wewnętrzna — ze względów prawnych i bezpieczeństwa danych — nie może być przetwarzana przez zewnętrzne systemy chmurowe.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337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MedIndex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109894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Trzy drogi do dokumentu — pracownik wybiera tę, która jest mu bliższa. Instrukcja obsługi wbudowana w aplikację.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436936"/>
            <a:ext cx="1018952" cy="714673"/>
          </a:xfrm>
          <a:prstGeom prst="roundRect">
            <a:avLst>
              <a:gd name="adj" fmla="val 7290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344" y="1707059"/>
            <a:ext cx="174427" cy="174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9044" y="1560909"/>
            <a:ext cx="68848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Repozytorium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39044" y="1829172"/>
            <a:ext cx="68848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Foldery, uprawnienia, statusy przetwarzania.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577057" y="2145655"/>
            <a:ext cx="7008837" cy="7144"/>
          </a:xfrm>
          <a:prstGeom prst="roundRect">
            <a:avLst>
              <a:gd name="adj" fmla="val 49998"/>
            </a:avLst>
          </a:prstGeom>
          <a:solidFill>
            <a:srgbClr val="D2DCB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496119" y="2213595"/>
            <a:ext cx="2037904" cy="714673"/>
          </a:xfrm>
          <a:prstGeom prst="roundRect">
            <a:avLst>
              <a:gd name="adj" fmla="val 7290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7857" y="2483718"/>
            <a:ext cx="174427" cy="1744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7996" y="2337569"/>
            <a:ext cx="586591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Baza wiedzy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57996" y="2605832"/>
            <a:ext cx="58659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Pytanie zwykłym językiem, odpowiedź z odnośnikami do stron.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596009" y="2922315"/>
            <a:ext cx="5989886" cy="7144"/>
          </a:xfrm>
          <a:prstGeom prst="roundRect">
            <a:avLst>
              <a:gd name="adj" fmla="val 49998"/>
            </a:avLst>
          </a:prstGeom>
          <a:solidFill>
            <a:srgbClr val="D2DCB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Shape 10"/>
          <p:cNvSpPr/>
          <p:nvPr/>
        </p:nvSpPr>
        <p:spPr>
          <a:xfrm>
            <a:off x="496119" y="2990255"/>
            <a:ext cx="3056855" cy="714673"/>
          </a:xfrm>
          <a:prstGeom prst="roundRect">
            <a:avLst>
              <a:gd name="adj" fmla="val 7290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7296" y="3260378"/>
            <a:ext cx="174427" cy="1744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76948" y="3114229"/>
            <a:ext cx="484696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Wyszukiwarka po polach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676948" y="3382491"/>
            <a:ext cx="484696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„Zarządzenia z 2024", „procedury zatwierdzone przez…"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614961" y="3698974"/>
            <a:ext cx="4970934" cy="7144"/>
          </a:xfrm>
          <a:prstGeom prst="roundRect">
            <a:avLst>
              <a:gd name="adj" fmla="val 49998"/>
            </a:avLst>
          </a:prstGeom>
          <a:solidFill>
            <a:srgbClr val="D2DCB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Shape 14"/>
          <p:cNvSpPr/>
          <p:nvPr/>
        </p:nvSpPr>
        <p:spPr>
          <a:xfrm>
            <a:off x="496119" y="3766914"/>
            <a:ext cx="4075881" cy="714673"/>
          </a:xfrm>
          <a:prstGeom prst="roundRect">
            <a:avLst>
              <a:gd name="adj" fmla="val 5706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6809" y="4049017"/>
            <a:ext cx="174427" cy="1744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95974" y="3855168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Automatyczne rozpoznawanie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695974" y="4063888"/>
            <a:ext cx="38279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Rodzaj pisma, numer, data, osoba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zatwierdzająca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wyciągane automatycznie.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150" y="37584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Eksplorator plików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7150" y="1155326"/>
            <a:ext cx="1882269" cy="2099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Przejrzysty widok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folderów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 uprawnieniami,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statusami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liczbą plików. Pracownik widzi wyłącznie zasoby przypisane do jego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roli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od delegacji, przez regulaminy pracy, po ZFŚS.</a:t>
            </a:r>
            <a:endParaRPr lang="en-US" sz="950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8A1C8DE-ECF9-532F-88E8-DAECABEEA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289" y="1193228"/>
            <a:ext cx="6429228" cy="36504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034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Bezpieczeństwo i prywatność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87984"/>
            <a:ext cx="2634555" cy="16610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380" y="1750219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Dane zostają w szpitalu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34380" y="2018481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Aplikacja, model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językowy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dokumenty działają wyłącznie na Waszym urządzeniu w serwerowni. Żaden dokument, fragment ani pytanie nie opuszcza Waszej sieci.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1301948"/>
            <a:ext cx="2634630" cy="1517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92909" y="1564184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Dostęp oparty na rolach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392909" y="1832446"/>
            <a:ext cx="235810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Użytkownik widzi tylko swoje foldery — także w czacie. Historia pytań prywatna; administrator widzi statystyki, nie cudze rozmowy.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3252" y="1115913"/>
            <a:ext cx="2634555" cy="14685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1513" y="1378148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Automatyczne zabezpieczenia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51513" y="1646411"/>
            <a:ext cx="235803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Automatyczne wylogowanie po bezczynności, zmiana hasła za potwierdzeniem.</a:t>
            </a:r>
            <a:endParaRPr lang="en-US" sz="950" dirty="0"/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997F4F67-8A6F-EAEA-882E-028C93DD1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360849"/>
            <a:ext cx="8151763" cy="1461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0">
            <a:extLst>
              <a:ext uri="{FF2B5EF4-FFF2-40B4-BE49-F238E27FC236}">
                <a16:creationId xmlns:a16="http://schemas.microsoft.com/office/drawing/2014/main" id="{3C571916-2099-901E-DCB1-A5D5D41C6B35}"/>
              </a:ext>
            </a:extLst>
          </p:cNvPr>
          <p:cNvSpPr/>
          <p:nvPr/>
        </p:nvSpPr>
        <p:spPr>
          <a:xfrm>
            <a:off x="2166766" y="4192949"/>
            <a:ext cx="4714924" cy="644213"/>
          </a:xfrm>
          <a:prstGeom prst="roundRect">
            <a:avLst>
              <a:gd name="adj" fmla="val 8594"/>
            </a:avLst>
          </a:prstGeom>
          <a:solidFill>
            <a:srgbClr val="ECF6D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" name="Text 0"/>
          <p:cNvSpPr/>
          <p:nvPr/>
        </p:nvSpPr>
        <p:spPr>
          <a:xfrm>
            <a:off x="496119" y="35830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Skąd pewność, że odpowiedź jest prawdziwa?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74318"/>
            <a:ext cx="8151763" cy="10002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0333" y="2036381"/>
            <a:ext cx="4013895" cy="14288"/>
          </a:xfrm>
          <a:prstGeom prst="rect">
            <a:avLst/>
          </a:prstGeom>
          <a:solidFill>
            <a:srgbClr val="97C2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510333" y="2126942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Pytanie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10333" y="233783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Użytkownik nie musi znać formalnego języka dokumentów.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„domyśli się” intencji i znajdzie najlepiej dopasowane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pl-PL" sz="950" dirty="0">
                <a:solidFill>
                  <a:srgbClr val="000000"/>
                </a:solidFill>
                <a:latin typeface="Montserrat" pitchFamily="34" charset="0"/>
              </a:rPr>
              <a:t>Informacje do kontekstu pytania.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648201" y="2036381"/>
            <a:ext cx="4013895" cy="14288"/>
          </a:xfrm>
          <a:prstGeom prst="rect">
            <a:avLst/>
          </a:prstGeom>
          <a:solidFill>
            <a:srgbClr val="97C2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4648201" y="2126942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Wyszukanie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48201" y="233783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znajduje fragmenty w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Waszych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plikach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ale jeśli pytanie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dotyczy plików określonego typu, jest w stanie stworzyć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listę plików spełniających kryteria wyszukiwania.</a:t>
            </a:r>
          </a:p>
        </p:txBody>
      </p:sp>
      <p:sp>
        <p:nvSpPr>
          <p:cNvPr id="10" name="Shape 7"/>
          <p:cNvSpPr/>
          <p:nvPr/>
        </p:nvSpPr>
        <p:spPr>
          <a:xfrm>
            <a:off x="510333" y="3007112"/>
            <a:ext cx="4013895" cy="14288"/>
          </a:xfrm>
          <a:prstGeom prst="rect">
            <a:avLst/>
          </a:prstGeom>
          <a:solidFill>
            <a:srgbClr val="97C2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510333" y="3097674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Odpowiedź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0333" y="3321501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pl-PL" sz="950" dirty="0">
                <a:solidFill>
                  <a:srgbClr val="000000"/>
                </a:solidFill>
                <a:latin typeface="Montserrat" pitchFamily="34" charset="0"/>
              </a:rPr>
              <a:t>Tekst odpowiedzi opiera się wyłącznie o wiedzę opartą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</a:rPr>
            </a:br>
            <a:r>
              <a:rPr lang="pl-PL" sz="950" dirty="0">
                <a:solidFill>
                  <a:srgbClr val="000000"/>
                </a:solidFill>
                <a:latin typeface="Montserrat" pitchFamily="34" charset="0"/>
              </a:rPr>
              <a:t>o wyszukane fragmenty tekstów z bazy danych.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</a:rPr>
            </a:br>
            <a:r>
              <a:rPr lang="pl-PL" sz="950" dirty="0">
                <a:solidFill>
                  <a:srgbClr val="000000"/>
                </a:solidFill>
                <a:latin typeface="Montserrat" pitchFamily="34" charset="0"/>
              </a:rPr>
              <a:t>Żadnych halucynacji.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48201" y="3007112"/>
            <a:ext cx="4013895" cy="14288"/>
          </a:xfrm>
          <a:prstGeom prst="rect">
            <a:avLst/>
          </a:prstGeom>
          <a:solidFill>
            <a:srgbClr val="97C2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1"/>
          <p:cNvSpPr/>
          <p:nvPr/>
        </p:nvSpPr>
        <p:spPr>
          <a:xfrm>
            <a:off x="4648201" y="3097674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Dowód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48201" y="3318847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Odnośniki w poszczególnych fragmentach odpowiedzi prowadzą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źródeł. Dodatkowo lista wszystkich źródeł pojawia się pod tuż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 odpowiedzią umożliwiając zapoznanie się z dokumentami.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388" y="4351017"/>
            <a:ext cx="155004" cy="1239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83368" y="4326163"/>
            <a:ext cx="411828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Nie trzeba wierzyć systemowi — każde zdanie sprawdzicie w źródle.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Brak dopasowania = jasny komunikat zamiast wymyślonej treści.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044" y="351755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Pojemność i szybkość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67606"/>
            <a:ext cx="2651596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128 GB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96119" y="1402259"/>
            <a:ext cx="265159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Pamięć modelu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1603921"/>
            <a:ext cx="2651596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Jedno urządzenie obsługuje cały szpital.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46165" y="967606"/>
            <a:ext cx="2651596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TB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246165" y="1402259"/>
            <a:ext cx="265159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 dokumenty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46165" y="1603921"/>
            <a:ext cx="2651596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Setki tysięcy plików biurowych.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96211" y="967606"/>
            <a:ext cx="2651596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~1 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996211" y="1402259"/>
            <a:ext cx="265159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Pierwsze słowo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96211" y="1603921"/>
            <a:ext cx="2651596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Cała odpowiedź gotowa w ok. 15 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96119" y="1834530"/>
            <a:ext cx="8151763" cy="483096"/>
          </a:xfrm>
          <a:prstGeom prst="roundRect">
            <a:avLst>
              <a:gd name="adj" fmla="val 8594"/>
            </a:avLst>
          </a:prstGeom>
          <a:solidFill>
            <a:srgbClr val="ECF6D5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40" y="1966838"/>
            <a:ext cx="123527" cy="9882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7290" y="1937965"/>
            <a:ext cx="7731770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Baza rośnie, czas odpowiedzi stoi w miejscu.</a:t>
            </a: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Pomiar z działającego wdrożenia demonstracyjnego (157 dokumentów). Przygotowanie dokumentu odbywa się raz, w tle, przy wgraniu pliku.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96119" y="2435721"/>
            <a:ext cx="8151763" cy="247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Najważniejsze zalety w środowisku szpitalnym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496119" y="2800945"/>
            <a:ext cx="4036516" cy="977057"/>
          </a:xfrm>
          <a:prstGeom prst="roundRect">
            <a:avLst>
              <a:gd name="adj" fmla="val 4249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599703" y="2904530"/>
            <a:ext cx="382934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Maksymalne bezpieczeństwo i poufność danych (Data Privacy)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9703" y="3106192"/>
            <a:ext cx="3829348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Architektura on-premise eliminuje ryzyko wysyłania poufnych informacji medycznych na zewnętrzne serwery. Pełna zgodność z RODO i standardami medycznymi — dane pacjentów pozostają wyłącznie w infrastrukturze szpitala.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611365" y="2800945"/>
            <a:ext cx="4036516" cy="977057"/>
          </a:xfrm>
          <a:prstGeom prst="roundRect">
            <a:avLst>
              <a:gd name="adj" fmla="val 4249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7"/>
          <p:cNvSpPr/>
          <p:nvPr/>
        </p:nvSpPr>
        <p:spPr>
          <a:xfrm>
            <a:off x="4714949" y="2904530"/>
            <a:ext cx="382934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Wielomodelowość (Multi-Model Flexibility)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14949" y="3106192"/>
            <a:ext cx="3829348" cy="42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Platforma umożliwia jednoczesne wdrażanie wielu wyspecjalizowanych modeli językowych i wizyjnych — od dokumentacji medycznej, przez systemy prehabilitacji pacjentów, po asystentów analizujących rany pooperacyjne.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96119" y="3856732"/>
            <a:ext cx="4036516" cy="835000"/>
          </a:xfrm>
          <a:prstGeom prst="roundRect">
            <a:avLst>
              <a:gd name="adj" fmla="val 4972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0"/>
          <p:cNvSpPr/>
          <p:nvPr/>
        </p:nvSpPr>
        <p:spPr>
          <a:xfrm>
            <a:off x="599703" y="3960316"/>
            <a:ext cx="382934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Wydajność w czasie rzeczywistym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9703" y="4161979"/>
            <a:ext cx="3829348" cy="42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Akceleracja sprzętowa zapewnia błyskawiczny czas odpowiedzi — krytyczny podczas podejmowania decyzji klinicznych oraz w bezpośrednim kontakcie personelu z pacjentem.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611365" y="3856732"/>
            <a:ext cx="4036516" cy="835000"/>
          </a:xfrm>
          <a:prstGeom prst="roundRect">
            <a:avLst>
              <a:gd name="adj" fmla="val 4972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3"/>
          <p:cNvSpPr/>
          <p:nvPr/>
        </p:nvSpPr>
        <p:spPr>
          <a:xfrm>
            <a:off x="4714949" y="3960316"/>
            <a:ext cx="3829348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Kontrola i bezpieczeństwo procedur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714949" y="4161979"/>
            <a:ext cx="3829348" cy="42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Integracja z mechanizmami guardrails umożliwia precyzyjne filtrowanie odpowiedzi modeli, zapobieganie halucynacjom oraz ścisłą kontrolę dostępu do zasobów zgodnie z uprawnieniami personelu.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648" y="27709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Łatwość obsługi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832646" y="1261680"/>
            <a:ext cx="2957779" cy="238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Trzy ekrany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854859" y="1519427"/>
            <a:ext cx="295778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Dashboard, Pliki, Baza wiedzy.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Administracja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tylko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dla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administratora. </a:t>
            </a:r>
            <a:br>
              <a:rPr lang="pl-PL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Nic do </a:t>
            </a:r>
            <a:r>
              <a:rPr lang="en-US" sz="10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instalowania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na komputerach </a:t>
            </a:r>
            <a:r>
              <a:rPr lang="en-US" sz="10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pracowników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działa w przeglądarce.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832646" y="1119362"/>
            <a:ext cx="2957779" cy="45719"/>
          </a:xfrm>
          <a:prstGeom prst="rect">
            <a:avLst/>
          </a:prstGeom>
          <a:solidFill>
            <a:srgbClr val="97C2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5872050" y="2637183"/>
            <a:ext cx="2918375" cy="27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Język potoczny działa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4859" y="2908736"/>
            <a:ext cx="2992161" cy="1703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„Delegacja" znajdzie „podróż służbową", „L4" — „zwolnienie lekarskie". Wystarczy sama nazwa dokumentu, żeby dostać jego opis i odnośnik.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Szkolenie pracownika: 20 minut.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Instrukcja</a:t>
            </a: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 aplikacji, pod przyciskiem Pomoc. Kto umie korzystać z wyszukiwarki internetowej, umie korzystać z tego.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72050" y="2513760"/>
            <a:ext cx="2957780" cy="45719"/>
          </a:xfrm>
          <a:prstGeom prst="rect">
            <a:avLst/>
          </a:prstGeom>
          <a:solidFill>
            <a:srgbClr val="97C22C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2A8D7A9-A97C-610B-56F2-6B2CDD99F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48" y="845899"/>
            <a:ext cx="5154828" cy="398673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675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Gdzie można stosować MedIndex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509861"/>
            <a:ext cx="2910036" cy="1079004"/>
          </a:xfrm>
          <a:prstGeom prst="roundRect">
            <a:avLst>
              <a:gd name="adj" fmla="val 4828"/>
            </a:avLst>
          </a:prstGeom>
          <a:solidFill>
            <a:srgbClr val="ECF6D5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1694408"/>
            <a:ext cx="155004" cy="1239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9071" y="1652439"/>
            <a:ext cx="238311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Zaczynamy zwykle od kadr — efekt widać w pierwszym tygodniu. </a:t>
            </a: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Kolejny dział to wgranie dokumentów, a nie nowe wdrożenie.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3485" y="1509861"/>
            <a:ext cx="1563663" cy="13835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08896" y="1648123"/>
            <a:ext cx="12299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Kadry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908896" y="1965945"/>
            <a:ext cx="12299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Regulaminy, wnioski, PPK, ZFŚS.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1121" y="1509861"/>
            <a:ext cx="1563737" cy="13835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96533" y="1648123"/>
            <a:ext cx="1230064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Jakość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br>
              <a:rPr lang="pl-PL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</a:b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 akredytacja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596533" y="2159794"/>
            <a:ext cx="123006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Procedury, instrukcje, wersje obowiązujące.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8832" y="1509861"/>
            <a:ext cx="1563663" cy="13835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84244" y="1648123"/>
            <a:ext cx="122999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Personel medyczny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284244" y="2159794"/>
            <a:ext cx="12299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Procedury kliniczne i pielęgniarskie.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3485" y="3017416"/>
            <a:ext cx="1563663" cy="11897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908896" y="3155677"/>
            <a:ext cx="12299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Administracja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3908896" y="3473500"/>
            <a:ext cx="12299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Umowy, zarządzenia, przetargi.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1121" y="3017416"/>
            <a:ext cx="1563737" cy="11897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596533" y="3155677"/>
            <a:ext cx="123006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BHP · RODO · IT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596533" y="3473500"/>
            <a:ext cx="123006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Polityki i instrukcje wewnętrzne.</a:t>
            </a:r>
            <a:endParaRPr lang="en-US" sz="9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8832" y="3017416"/>
            <a:ext cx="1563663" cy="11897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284244" y="3155677"/>
            <a:ext cx="12299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Poza szpitalem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7284244" y="3473500"/>
            <a:ext cx="12299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Uczelnie, urzędy, kancelarie, produkcja.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8" y="38521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Nasza rola: </a:t>
            </a:r>
            <a:br>
              <a:rPr lang="pl-PL" sz="2400" b="1" dirty="0">
                <a:solidFill>
                  <a:srgbClr val="4472C4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</a:br>
            <a:r>
              <a:rPr lang="en-US" sz="2400" b="1" dirty="0" err="1">
                <a:solidFill>
                  <a:srgbClr val="4472C4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wdrożenie</a:t>
            </a:r>
            <a:r>
              <a:rPr lang="en-US" sz="2400" b="1" dirty="0">
                <a:solidFill>
                  <a:srgbClr val="4472C4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 i wsparcie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35645" y="1474291"/>
            <a:ext cx="14288" cy="2619524"/>
          </a:xfrm>
          <a:prstGeom prst="roundRect">
            <a:avLst>
              <a:gd name="adj" fmla="val 49998"/>
            </a:avLst>
          </a:prstGeom>
          <a:solidFill>
            <a:srgbClr val="D2DCB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760884" y="1606674"/>
            <a:ext cx="372070" cy="14288"/>
          </a:xfrm>
          <a:prstGeom prst="roundRect">
            <a:avLst>
              <a:gd name="adj" fmla="val 49998"/>
            </a:avLst>
          </a:prstGeom>
          <a:solidFill>
            <a:srgbClr val="D2DCB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496119" y="147429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542627" y="149754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55886" y="1516931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Tydzień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55886" y="1785193"/>
            <a:ext cx="39629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Instalacja i uruchomienie — urządzenie w serwerowni,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konta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uprawnienia.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60884" y="2562523"/>
            <a:ext cx="372070" cy="14288"/>
          </a:xfrm>
          <a:prstGeom prst="roundRect">
            <a:avLst>
              <a:gd name="adj" fmla="val 49998"/>
            </a:avLst>
          </a:prstGeom>
          <a:solidFill>
            <a:srgbClr val="D2DCB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496119" y="2430140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542627" y="245339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255886" y="2472779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Tydzień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55886" y="2741042"/>
            <a:ext cx="39629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Wasze dokumenty i wzorce — wgrywamy pierwszą partię, układamy schematy pism.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0884" y="3518371"/>
            <a:ext cx="372070" cy="14288"/>
          </a:xfrm>
          <a:prstGeom prst="roundRect">
            <a:avLst>
              <a:gd name="adj" fmla="val 49998"/>
            </a:avLst>
          </a:prstGeom>
          <a:solidFill>
            <a:srgbClr val="D2DCB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Shape 13"/>
          <p:cNvSpPr/>
          <p:nvPr/>
        </p:nvSpPr>
        <p:spPr>
          <a:xfrm>
            <a:off x="496119" y="3385989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542627" y="340924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55886" y="3428628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Tydzień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55886" y="3696891"/>
            <a:ext cx="39629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Szkolenia i start — 20 min dla użytkownika, 2 h dla administratora.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6119" y="423334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Przychodzimy z Waszymi dokumentami już w środku.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Nie zostawiamy pustego systemu — pierwsza partia wgrana i sprawdzona przez nas.</a:t>
            </a:r>
            <a:endParaRPr lang="en-US" sz="950" dirty="0"/>
          </a:p>
        </p:txBody>
      </p:sp>
      <p:graphicFrame>
        <p:nvGraphicFramePr>
          <p:cNvPr id="21" name="Obiekt 20">
            <a:extLst>
              <a:ext uri="{FF2B5EF4-FFF2-40B4-BE49-F238E27FC236}">
                <a16:creationId xmlns:a16="http://schemas.microsoft.com/office/drawing/2014/main" id="{24E6C0B3-B2E4-FC4B-864E-4BBB211F70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379556"/>
              </p:ext>
            </p:extLst>
          </p:nvPr>
        </p:nvGraphicFramePr>
        <p:xfrm>
          <a:off x="5633199" y="0"/>
          <a:ext cx="3531768" cy="528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519693" imgH="5270493" progId="">
                  <p:embed/>
                </p:oleObj>
              </mc:Choice>
              <mc:Fallback>
                <p:oleObj r:id="rId3" imgW="3519693" imgH="527049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3199" y="0"/>
                        <a:ext cx="3531768" cy="528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48382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Wsparcie po wdrożeniu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321966"/>
            <a:ext cx="4722763" cy="9417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1530" y="1460227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Wzorce pod Wasze pisma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91530" y="1728490"/>
            <a:ext cx="43890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sam wyciąga numer, datę i osobę zatwierdzającą z każdego dokumentu.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87650"/>
            <a:ext cx="4722763" cy="9417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1530" y="2525911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Wsparcie miesięczne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91530" y="2794174"/>
            <a:ext cx="43890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Aktualizacje, opieka nad jakością odpowiedzi, obsługa nowych rodzajów dokumentów.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453333"/>
            <a:ext cx="4722763" cy="9417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1530" y="3591595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Kierunek rozwoju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91530" y="3859857"/>
            <a:ext cx="43890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Powiązania między dokumentami, podgląd PDF na cytowanej stronie, logowanie kontem domenowym, integracja z systemem szpitalnym.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654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Oferta 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52116"/>
            <a:ext cx="8151763" cy="1812652"/>
          </a:xfrm>
          <a:prstGeom prst="roundRect">
            <a:avLst>
              <a:gd name="adj" fmla="val 287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96119" y="1816075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96119" y="2177653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496119" y="2539231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496119" y="2900809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24929" y="1536055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Pozycja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10212" y="1536055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Netto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4929" y="1897633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Sprzęt: NVIDIA DGX Spark — 128 GB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pamięci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RAM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4 TB SSD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10212" y="1897633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000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zł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r>
              <a:rPr lang="pl-PL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(inwestycja jednorazowa)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4929" y="2259211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Dostawa i wdrożenie oprogramowania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10212" y="2259211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25 000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zł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r>
              <a:rPr lang="pl-PL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(koszt jednorazowy)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4929" y="2620789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Wsparcie i rozwój (SLA)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10212" y="2620789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1 000 zł / mies.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4929" y="2982367"/>
            <a:ext cx="50945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Rok pierwszy łącznie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10212" y="2982367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97C2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r>
              <a:rPr lang="pl-PL" sz="950" b="1" dirty="0">
                <a:solidFill>
                  <a:srgbClr val="97C2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r>
              <a:rPr lang="en-US" sz="950" b="1" dirty="0">
                <a:solidFill>
                  <a:srgbClr val="97C22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000 zł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119" y="3404295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624855" y="3533031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Bez opłat za użytkownika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855" y="3801294"/>
            <a:ext cx="23770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Bez opłat za liczbę dokumentów.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54648" y="3404295"/>
            <a:ext cx="2634630" cy="922660"/>
          </a:xfrm>
          <a:prstGeom prst="roundRect">
            <a:avLst>
              <a:gd name="adj" fmla="val 5647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383384" y="3533031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Sprzęt zostaje Wasz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384" y="3801294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Nie płacicie abonamentu za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dostęp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własnych danych.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13252" y="3404295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6141988" y="3533031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Trzy lata użytkowania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41988" y="3801294"/>
            <a:ext cx="23770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pl-PL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36</a:t>
            </a: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000 </a:t>
            </a:r>
            <a:r>
              <a:rPr lang="en-US" sz="95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zł</a:t>
            </a: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95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netto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80245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Następny krok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82154" y="2193354"/>
            <a:ext cx="453672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Dwutygodniowe uruchomienie próbne na Waszych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dokumentach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u Was, bez zobowiązań.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2053828"/>
            <a:ext cx="14288" cy="675977"/>
          </a:xfrm>
          <a:prstGeom prst="roundRect">
            <a:avLst>
              <a:gd name="adj" fmla="val 49998"/>
            </a:avLst>
          </a:prstGeom>
          <a:solidFill>
            <a:srgbClr val="97C2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496119" y="2869332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Przychodzimy do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Waszej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serwerowni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instalujemy system i wgrywamy pierwszą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partię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dokumentów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Już  następnego dnia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widzicie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jak 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</a:t>
            </a: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działa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na Waszych danych, w Waszej sieci, bez żadnych kosztów ani zobowiązań.</a:t>
            </a:r>
            <a:endParaRPr lang="en-US" sz="9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9156CE8-3491-02F9-4717-FBE737C6D2B3}"/>
              </a:ext>
            </a:extLst>
          </p:cNvPr>
          <p:cNvSpPr/>
          <p:nvPr/>
        </p:nvSpPr>
        <p:spPr>
          <a:xfrm>
            <a:off x="1233838" y="4589736"/>
            <a:ext cx="439032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l-PL" sz="800" dirty="0">
                <a:solidFill>
                  <a:srgbClr val="000000"/>
                </a:solidFill>
                <a:latin typeface="Montserrat" pitchFamily="34" charset="0"/>
              </a:rPr>
              <a:t>* Możliwy jest też bezpieczny test na zdalnej maszynie AI dostępnej pod unikalnym, publicznym i zabezpieczonym adresem domenowym.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6">
            <a:extLst>
              <a:ext uri="{FF2B5EF4-FFF2-40B4-BE49-F238E27FC236}">
                <a16:creationId xmlns:a16="http://schemas.microsoft.com/office/drawing/2014/main" id="{DD854B3C-B743-E009-D3CD-18A5DF224C8F}"/>
              </a:ext>
            </a:extLst>
          </p:cNvPr>
          <p:cNvSpPr/>
          <p:nvPr/>
        </p:nvSpPr>
        <p:spPr>
          <a:xfrm>
            <a:off x="538534" y="4303917"/>
            <a:ext cx="5596948" cy="607842"/>
          </a:xfrm>
          <a:prstGeom prst="roundRect">
            <a:avLst>
              <a:gd name="adj" fmla="val 5647"/>
            </a:avLst>
          </a:prstGeom>
          <a:solidFill>
            <a:srgbClr val="ECF6D5"/>
          </a:solidFill>
          <a:ln w="4763">
            <a:solidFill>
              <a:srgbClr val="D2DCB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" name="Text 0"/>
          <p:cNvSpPr/>
          <p:nvPr/>
        </p:nvSpPr>
        <p:spPr>
          <a:xfrm>
            <a:off x="282917" y="23174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pl-PL" sz="2400" b="1" dirty="0">
                <a:solidFill>
                  <a:srgbClr val="4472C4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Import danych z Eskulapa do </a:t>
            </a:r>
            <a:r>
              <a:rPr lang="pl-PL" sz="2400" b="1" dirty="0" err="1">
                <a:solidFill>
                  <a:srgbClr val="4472C4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iWounda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337570-36AA-97B8-E1FA-91886C3CA6F4}"/>
              </a:ext>
            </a:extLst>
          </p:cNvPr>
          <p:cNvSpPr/>
          <p:nvPr/>
        </p:nvSpPr>
        <p:spPr>
          <a:xfrm>
            <a:off x="496118" y="843053"/>
            <a:ext cx="487657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 ramach tego samego wdrożenia uzyskujecie Państwo dostęp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aplikacji przenoszącej dane wprost z ekranu systemu Eskulap do </a:t>
            </a:r>
            <a:r>
              <a:rPr lang="pl-PL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iWound’a</a:t>
            </a:r>
            <a:endParaRPr lang="en-US" sz="9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8960208-1EB1-4F9A-039E-2AD2893D1A6B}"/>
              </a:ext>
            </a:extLst>
          </p:cNvPr>
          <p:cNvSpPr/>
          <p:nvPr/>
        </p:nvSpPr>
        <p:spPr>
          <a:xfrm>
            <a:off x="310084" y="736713"/>
            <a:ext cx="14288" cy="675977"/>
          </a:xfrm>
          <a:prstGeom prst="roundRect">
            <a:avLst>
              <a:gd name="adj" fmla="val 49998"/>
            </a:avLst>
          </a:prstGeom>
          <a:solidFill>
            <a:srgbClr val="97C22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A4BB985-CBFD-B910-B168-084A81D40E7F}"/>
              </a:ext>
            </a:extLst>
          </p:cNvPr>
          <p:cNvSpPr/>
          <p:nvPr/>
        </p:nvSpPr>
        <p:spPr>
          <a:xfrm>
            <a:off x="702326" y="4399203"/>
            <a:ext cx="5542126" cy="417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Przeniesienie danych wykonuje się </a:t>
            </a:r>
            <a:r>
              <a:rPr lang="pl-PL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kliknięciem 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trwa </a:t>
            </a:r>
            <a:r>
              <a:rPr lang="pl-PL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2 sekund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z 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</a:rPr>
              <a:t>wykorzystaniem </a:t>
            </a:r>
            <a:br>
              <a:rPr lang="pl-PL" sz="950" dirty="0">
                <a:solidFill>
                  <a:srgbClr val="000000"/>
                </a:solidFill>
                <a:latin typeface="Montserrat" pitchFamily="34" charset="0"/>
              </a:rPr>
            </a:br>
            <a:r>
              <a:rPr lang="pl-PL" sz="950" dirty="0">
                <a:solidFill>
                  <a:srgbClr val="000000"/>
                </a:solidFill>
                <a:latin typeface="Montserrat" pitchFamily="34" charset="0"/>
              </a:rPr>
              <a:t>tej samej lokalnej maszyny AI. Żadne dane </a:t>
            </a:r>
            <a:r>
              <a:rPr lang="pl-PL" sz="950" b="1" dirty="0">
                <a:solidFill>
                  <a:srgbClr val="000000"/>
                </a:solidFill>
                <a:latin typeface="Montserrat" pitchFamily="34" charset="0"/>
              </a:rPr>
              <a:t>nie opuszczają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</a:rPr>
              <a:t> murów szpitala.</a:t>
            </a:r>
            <a:endParaRPr lang="en-US" sz="950" dirty="0"/>
          </a:p>
        </p:txBody>
      </p:sp>
      <p:graphicFrame>
        <p:nvGraphicFramePr>
          <p:cNvPr id="14" name="Obiekt 13">
            <a:extLst>
              <a:ext uri="{FF2B5EF4-FFF2-40B4-BE49-F238E27FC236}">
                <a16:creationId xmlns:a16="http://schemas.microsoft.com/office/drawing/2014/main" id="{305B93C8-8985-591C-4926-1F869141C0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743333"/>
              </p:ext>
            </p:extLst>
          </p:nvPr>
        </p:nvGraphicFramePr>
        <p:xfrm>
          <a:off x="6980117" y="2037478"/>
          <a:ext cx="1960157" cy="275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848779" imgH="6804023" progId="">
                  <p:embed/>
                </p:oleObj>
              </mc:Choice>
              <mc:Fallback>
                <p:oleObj r:id="rId3" imgW="4848779" imgH="68040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80117" y="2037478"/>
                        <a:ext cx="1960157" cy="2751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iekt 14">
            <a:extLst>
              <a:ext uri="{FF2B5EF4-FFF2-40B4-BE49-F238E27FC236}">
                <a16:creationId xmlns:a16="http://schemas.microsoft.com/office/drawing/2014/main" id="{3C745FFD-422A-ADF9-BAB6-93A1104FEA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994589"/>
              </p:ext>
            </p:extLst>
          </p:nvPr>
        </p:nvGraphicFramePr>
        <p:xfrm>
          <a:off x="538534" y="1479722"/>
          <a:ext cx="6096000" cy="25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893150" imgH="8006669" progId="">
                  <p:embed/>
                </p:oleObj>
              </mc:Choice>
              <mc:Fallback>
                <p:oleObj r:id="rId5" imgW="18893150" imgH="8006669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8534" y="1479722"/>
                        <a:ext cx="6096000" cy="2584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7C3D3584-8773-AA09-E866-85E4BBED0171}"/>
              </a:ext>
            </a:extLst>
          </p:cNvPr>
          <p:cNvCxnSpPr>
            <a:cxnSpLocks/>
          </p:cNvCxnSpPr>
          <p:nvPr/>
        </p:nvCxnSpPr>
        <p:spPr>
          <a:xfrm>
            <a:off x="2411552" y="1885654"/>
            <a:ext cx="5012618" cy="7725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36402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72C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Skontaktuj się z nami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309985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Piotr Piątek -  CEO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846436"/>
            <a:ext cx="248022" cy="2480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28145" y="1889075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Telefon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328145" y="2157338"/>
            <a:ext cx="4319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501 647 303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03822"/>
            <a:ext cx="248022" cy="24802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28145" y="2646462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E-mail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328145" y="2914724"/>
            <a:ext cx="4319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piotr.piatek@polmedi.com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361209"/>
            <a:ext cx="248022" cy="24802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28145" y="3403848"/>
            <a:ext cx="43197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Firma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328145" y="3672111"/>
            <a:ext cx="431973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Polmedi</a:t>
            </a:r>
            <a:r>
              <a:rPr lang="pl-PL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sp z o.o.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3925119" y="4010099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Jesteśmy do dyspozycji — odpowiemy na każde pytanie dotyczące wdrożenia MedIndex w Waszym szpitalu.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1241</Words>
  <Application>Microsoft Office PowerPoint</Application>
  <PresentationFormat>Pokaz na ekranie (16:9)</PresentationFormat>
  <Paragraphs>147</Paragraphs>
  <Slides>15</Slides>
  <Notes>15</Notes>
  <HiddenSlides>0</HiddenSlides>
  <MMClips>0</MMClips>
  <ScaleCrop>false</ScaleCrop>
  <HeadingPairs>
    <vt:vector size="8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0</vt:i4>
      </vt:variant>
      <vt:variant>
        <vt:lpstr>Tytuły slajdów</vt:lpstr>
      </vt:variant>
      <vt:variant>
        <vt:i4>15</vt:i4>
      </vt:variant>
    </vt:vector>
  </HeadingPairs>
  <TitlesOfParts>
    <vt:vector size="21" baseType="lpstr">
      <vt:lpstr>Arial</vt:lpstr>
      <vt:lpstr>Inter Bold</vt:lpstr>
      <vt:lpstr>Montserrat</vt:lpstr>
      <vt:lpstr>Montserrat Bold</vt:lpstr>
      <vt:lpstr>Roboto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Marcin Cieślak</dc:creator>
  <cp:lastModifiedBy>Marcin Cieślak</cp:lastModifiedBy>
  <cp:revision>9</cp:revision>
  <dcterms:created xsi:type="dcterms:W3CDTF">2026-08-04T09:24:21Z</dcterms:created>
  <dcterms:modified xsi:type="dcterms:W3CDTF">2026-08-05T04:23:59Z</dcterms:modified>
</cp:coreProperties>
</file>