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nie brak dokumentów, tylko czas dostępu i pewność wersji. Każde „gdzie to jest?” kosztuje dwie osoby — pytającego i tę, która odpowiada.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Trzy drogi do dokumentu: przeglądanie, pytanie o treść, wyszukiwanie po opisie. Pracownik wybiera bliższą sobie.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 jest różnica wobec chmury: pytanie o dokument kadrowy nie wychodzi z organizacji. Przez sieć idzie tylko ruch przeglądarka–serwer.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Jak cytowanie w publikacji — każde twierdzenie sprawdzalne w dwie sekundy. Warunek konieczny przy procedurach medycznych.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Liczby z działającego wdrożenia, nie z folderu producenta. Pojemność ogranicza dysk, nie wydajność. Urządzenie wielkości książki, pobór prądu jak stacja robocza.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Sprawdzianem jest osoba, która nie chce uczyć się nowego programu. Kto umie korzystać z wyszukiwarki, umie korzystać z tego.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sam system sprawdzi się wszędzie tam, gdzie jest duży zasób dokumentów wewnętrznych.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Najczęstszy powód, dla którego takie systemy umierają, to pusty start. Ostatni punkt to plan — tych elementów nie ma jeszcze w wersji pokazywanej dziś.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Nie proszę o decyzję zakupową, tylko o test na własnych dokumentach. Jeśli po dwóch tygodniach kadry powiedzą, że to nie pomaga — rozstajemy się bez kosztów. Do Piotra dzwonicie w sprawie wyceny i umowy, do mnie — gdy pytanie jest techniczne.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600" y="2343150"/>
            <a:ext cx="1143000" cy="571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09600" y="2724150"/>
            <a:ext cx="95250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800" b="1">
                <a:solidFill>
                  <a:srgbClr val="FFFFFF"/>
                </a:solidFill>
                <a:latin typeface="Segoe UI"/>
              </a:rPr>
              <a:t>HiRS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543300"/>
            <a:ext cx="8572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500" b="0">
                <a:solidFill>
                  <a:srgbClr val="C7F3F3"/>
                </a:solidFill>
                <a:latin typeface="Segoe UI"/>
              </a:rPr>
              <a:t>Hospital Information Retrieval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943350"/>
            <a:ext cx="8382000" cy="76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900" b="0">
                <a:solidFill>
                  <a:srgbClr val="FFFFFF"/>
                </a:solidFill>
                <a:latin typeface="Segoe UI"/>
              </a:rPr>
              <a:t>Pytasz jak człowieka. Odpowiada z Waszych dokumentów.</a:t>
            </a:r>
          </a:p>
          <a:p>
            <a:pPr>
              <a:lnSpc>
                <a:spcPct val="145000"/>
              </a:lnSpc>
            </a:pPr>
            <a:r>
              <a:rPr sz="1900" b="0">
                <a:solidFill>
                  <a:srgbClr val="FFFFFF"/>
                </a:solidFill>
                <a:latin typeface="Segoe UI"/>
              </a:rPr>
              <a:t>Nic nie wychodzi poza szpital.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5962650"/>
            <a:ext cx="66675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00" b="1">
                <a:solidFill>
                  <a:srgbClr val="EAF0FF"/>
                </a:solidFill>
                <a:latin typeface="Segoe UI"/>
              </a:rPr>
              <a:t>Polmedi Group sp. z o.o., Poznań</a:t>
            </a:r>
          </a:p>
          <a:p>
            <a:pPr>
              <a:lnSpc>
                <a:spcPct val="125000"/>
              </a:lnSpc>
            </a:pPr>
            <a:r>
              <a:rPr sz="1200" b="0">
                <a:solidFill>
                  <a:srgbClr val="B9C6EA"/>
                </a:solidFill>
                <a:latin typeface="Segoe UI"/>
              </a:rPr>
              <a:t>24 sierpnia 2026</a:t>
            </a:r>
          </a:p>
        </p:txBody>
      </p:sp>
      <p:pic>
        <p:nvPicPr>
          <p:cNvPr id="8" name="Picture 7" descr="polmedi-group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0725" y="6000750"/>
            <a:ext cx="1971675" cy="4386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Problem, który znają wszyscy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2</a:t>
            </a:r>
          </a:p>
        </p:txBody>
      </p:sp>
      <p:sp>
        <p:nvSpPr>
          <p:cNvPr id="7" name="Oval 6"/>
          <p:cNvSpPr/>
          <p:nvPr/>
        </p:nvSpPr>
        <p:spPr>
          <a:xfrm>
            <a:off x="609600" y="16954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6192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Dokument jest — tylko nie wiadomo, w którym folderze i która wersja obowiązuje</a:t>
            </a:r>
          </a:p>
        </p:txBody>
      </p:sp>
      <p:sp>
        <p:nvSpPr>
          <p:cNvPr id="9" name="Oval 8"/>
          <p:cNvSpPr/>
          <p:nvPr/>
        </p:nvSpPr>
        <p:spPr>
          <a:xfrm>
            <a:off x="609600" y="21336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200" y="20574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Nowy pracownik pyta koleżankę zamiast szukać w regulaminie</a:t>
            </a:r>
          </a:p>
        </p:txBody>
      </p:sp>
      <p:sp>
        <p:nvSpPr>
          <p:cNvPr id="11" name="Oval 10"/>
          <p:cNvSpPr/>
          <p:nvPr/>
        </p:nvSpPr>
        <p:spPr>
          <a:xfrm>
            <a:off x="609600" y="25717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8200" y="24955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Ta sama odpowiedź udzielana dziesiątki razy przez kadry i dział jakości</a:t>
            </a:r>
          </a:p>
        </p:txBody>
      </p:sp>
      <p:sp>
        <p:nvSpPr>
          <p:cNvPr id="13" name="Oval 12"/>
          <p:cNvSpPr/>
          <p:nvPr/>
        </p:nvSpPr>
        <p:spPr>
          <a:xfrm>
            <a:off x="609600" y="30099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8200" y="29337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Przy akredytacji i kontroli liczy się czas dotarcia do właściwego zapisu</a:t>
            </a:r>
          </a:p>
        </p:txBody>
      </p:sp>
      <p:sp>
        <p:nvSpPr>
          <p:cNvPr id="15" name="Oval 14"/>
          <p:cNvSpPr/>
          <p:nvPr/>
        </p:nvSpPr>
        <p:spPr>
          <a:xfrm>
            <a:off x="609600" y="34480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200" y="33718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Chmura odpada: dokumentacja szpitala nie może trafiać do zewnętrznego dostawcy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Wiedza jest w dokumentach. Problemem jest droga do niej.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Co dostajecie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3</a:t>
            </a:r>
          </a:p>
        </p:txBody>
      </p:sp>
      <p:pic>
        <p:nvPicPr>
          <p:cNvPr id="7" name="Picture 6" descr="makieta-pli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714500"/>
            <a:ext cx="4914900" cy="2879824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09600" y="16954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16192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Repozytorium — foldery, uprawnienia, statusy przetwarzania</a:t>
            </a:r>
          </a:p>
        </p:txBody>
      </p:sp>
      <p:sp>
        <p:nvSpPr>
          <p:cNvPr id="10" name="Oval 9"/>
          <p:cNvSpPr/>
          <p:nvPr/>
        </p:nvSpPr>
        <p:spPr>
          <a:xfrm>
            <a:off x="609600" y="24193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23431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Chat z AI — pytanie zwykłym językiem, odpowiedź z odnośnikami do stron</a:t>
            </a:r>
          </a:p>
        </p:txBody>
      </p:sp>
      <p:sp>
        <p:nvSpPr>
          <p:cNvPr id="12" name="Oval 11"/>
          <p:cNvSpPr/>
          <p:nvPr/>
        </p:nvSpPr>
        <p:spPr>
          <a:xfrm>
            <a:off x="609600" y="31432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30670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Wyszukiwarka po polach — „zarządzenia z 2024”, „procedury zatwierdzone przez…”</a:t>
            </a:r>
          </a:p>
        </p:txBody>
      </p:sp>
      <p:sp>
        <p:nvSpPr>
          <p:cNvPr id="14" name="Oval 13"/>
          <p:cNvSpPr/>
          <p:nvPr/>
        </p:nvSpPr>
        <p:spPr>
          <a:xfrm>
            <a:off x="609600" y="3867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37909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Automatyczne rozpoznawanie — rodzaj pisma, numer, data, osoba zatwierdzająca</a:t>
            </a:r>
          </a:p>
        </p:txBody>
      </p:sp>
      <p:sp>
        <p:nvSpPr>
          <p:cNvPr id="16" name="Oval 15"/>
          <p:cNvSpPr/>
          <p:nvPr/>
        </p:nvSpPr>
        <p:spPr>
          <a:xfrm>
            <a:off x="609600" y="45910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148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Instrukcja obsługi wbudowana w aplikację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Trzy drogi do dokumentu — pracownik wybiera tę, która jest mu bliższa.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Bezpieczeństwo i prywatność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619250"/>
            <a:ext cx="7620000" cy="18097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" y="179070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00" b="1">
                <a:solidFill>
                  <a:srgbClr val="1FC8BA"/>
                </a:solidFill>
                <a:latin typeface="Segoe UI"/>
              </a:rPr>
              <a:t>WASZA SERWEROWNIA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" y="2114550"/>
            <a:ext cx="2336800" cy="1123950"/>
          </a:xfrm>
          <a:prstGeom prst="roundRect">
            <a:avLst>
              <a:gd name="adj" fmla="val 6000"/>
            </a:avLst>
          </a:prstGeom>
          <a:solidFill>
            <a:srgbClr val="343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500" y="2305050"/>
            <a:ext cx="2032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Aplikacja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DBE4F7"/>
                </a:solidFill>
                <a:latin typeface="Segoe UI"/>
              </a:rPr>
              <a:t>przeglądarka pracownika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1200" y="2114550"/>
            <a:ext cx="2336800" cy="1123950"/>
          </a:xfrm>
          <a:prstGeom prst="roundRect">
            <a:avLst>
              <a:gd name="adj" fmla="val 6000"/>
            </a:avLst>
          </a:prstGeom>
          <a:solidFill>
            <a:srgbClr val="343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3600" y="2305050"/>
            <a:ext cx="2032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Model językowy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DBE4F7"/>
                </a:solidFill>
                <a:latin typeface="Segoe UI"/>
              </a:rPr>
              <a:t>działa na Waszym urządzeniu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702300" y="2114550"/>
            <a:ext cx="2336800" cy="1123950"/>
          </a:xfrm>
          <a:prstGeom prst="roundRect">
            <a:avLst>
              <a:gd name="adj" fmla="val 6000"/>
            </a:avLst>
          </a:prstGeom>
          <a:solidFill>
            <a:srgbClr val="343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4700" y="2305050"/>
            <a:ext cx="2032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>
                <a:solidFill>
                  <a:srgbClr val="FFFFFF"/>
                </a:solidFill>
                <a:latin typeface="Segoe UI"/>
              </a:rPr>
              <a:t>Dokumenty i indeks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DBE4F7"/>
                </a:solidFill>
                <a:latin typeface="Segoe UI"/>
              </a:rPr>
              <a:t>dysk w serwerowni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24900" y="1847850"/>
            <a:ext cx="0" cy="914400"/>
          </a:xfrm>
          <a:prstGeom prst="rect">
            <a:avLst/>
          </a:prstGeom>
          <a:ln w="38100">
            <a:solidFill>
              <a:srgbClr val="0F9B8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876550"/>
            <a:ext cx="990600" cy="476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F9B8E"/>
                </a:solidFill>
                <a:latin typeface="Segoe UI"/>
              </a:rPr>
              <a:t>brak połączenia z usługami zewnętrznymi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9250" y="1619250"/>
            <a:ext cx="2343150" cy="18097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905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91650" y="2152650"/>
            <a:ext cx="2038350" cy="1047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Internet</a:t>
            </a:r>
          </a:p>
          <a:p>
            <a:pPr algn="ctr">
              <a:lnSpc>
                <a:spcPct val="135000"/>
              </a:lnSpc>
            </a:pPr>
            <a:r>
              <a:rPr sz="1050" b="0">
                <a:solidFill>
                  <a:srgbClr val="1E293B"/>
                </a:solidFill>
                <a:latin typeface="Segoe UI"/>
              </a:rPr>
              <a:t>nie wychodzi tu żaden dokument, fragment ani pytanie</a:t>
            </a:r>
          </a:p>
        </p:txBody>
      </p:sp>
      <p:sp>
        <p:nvSpPr>
          <p:cNvPr id="19" name="Oval 18"/>
          <p:cNvSpPr/>
          <p:nvPr/>
        </p:nvSpPr>
        <p:spPr>
          <a:xfrm>
            <a:off x="609600" y="38100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37338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Dostęp do folderów nadawany rolom — użytkownik widzi tylko swoje, także w czacie</a:t>
            </a:r>
          </a:p>
        </p:txBody>
      </p:sp>
      <p:sp>
        <p:nvSpPr>
          <p:cNvPr id="21" name="Oval 20"/>
          <p:cNvSpPr/>
          <p:nvPr/>
        </p:nvSpPr>
        <p:spPr>
          <a:xfrm>
            <a:off x="609600" y="4248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" y="41719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Historia pytań prywatna; administrator widzi statystyki, nie cudze rozmowy</a:t>
            </a:r>
          </a:p>
        </p:txBody>
      </p:sp>
      <p:sp>
        <p:nvSpPr>
          <p:cNvPr id="23" name="Oval 22"/>
          <p:cNvSpPr/>
          <p:nvPr/>
        </p:nvSpPr>
        <p:spPr>
          <a:xfrm>
            <a:off x="609600" y="46863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8200" y="46101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Automatyczne wylogowanie po bezczynności, zmiana hasła za potwierdzeniem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Żaden dokument, fragment ani pytanie nie opuszcza Waszej sieci.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Skąd pewność, że odpowiedź jest prawdziwa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62000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2095500"/>
            <a:ext cx="2252662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Pytanie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zwykłym językiem, np. „jak zgłosić zdarzenie niepożądane?”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5162" y="2114550"/>
            <a:ext cx="190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0F9B8E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4712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67112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7112" y="2095500"/>
            <a:ext cx="2252662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Wyszukanie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system znajduje fragmenty w Waszych plikach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0275" y="2114550"/>
            <a:ext cx="190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0F9B8E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9825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72225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225" y="2095500"/>
            <a:ext cx="2252662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Odpowiedź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zbudowana wyłącznie z tych fragmentów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5387" y="2114550"/>
            <a:ext cx="190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0">
                <a:solidFill>
                  <a:srgbClr val="0F9B8E"/>
                </a:solidFill>
                <a:latin typeface="Segoe U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24937" y="1619250"/>
            <a:ext cx="2557462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77337" y="1752600"/>
            <a:ext cx="247650" cy="247650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7337" y="2095500"/>
            <a:ext cx="2252662" cy="666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Dowód</a:t>
            </a:r>
          </a:p>
          <a:p>
            <a:pPr>
              <a:lnSpc>
                <a:spcPct val="130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numer przy zdaniu prowadzi do dokumentu i strony</a:t>
            </a:r>
          </a:p>
        </p:txBody>
      </p:sp>
      <p:sp>
        <p:nvSpPr>
          <p:cNvPr id="22" name="Oval 21"/>
          <p:cNvSpPr/>
          <p:nvPr/>
        </p:nvSpPr>
        <p:spPr>
          <a:xfrm>
            <a:off x="609600" y="32385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" y="31623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Odpowiedź powstaje wyłącznie z fragmentów Waszych plików</a:t>
            </a:r>
          </a:p>
        </p:txBody>
      </p:sp>
      <p:sp>
        <p:nvSpPr>
          <p:cNvPr id="24" name="Oval 23"/>
          <p:cNvSpPr/>
          <p:nvPr/>
        </p:nvSpPr>
        <p:spPr>
          <a:xfrm>
            <a:off x="609600" y="36766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200" y="36004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Brak dopasowania = jasny komunikat zamiast wymyślonej treści</a:t>
            </a:r>
          </a:p>
        </p:txBody>
      </p:sp>
      <p:sp>
        <p:nvSpPr>
          <p:cNvPr id="26" name="Oval 25"/>
          <p:cNvSpPr/>
          <p:nvPr/>
        </p:nvSpPr>
        <p:spPr>
          <a:xfrm>
            <a:off x="609600" y="41148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8200" y="40386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Widać też, ile dokumentów sprawdzono i z których nie skorzystano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Nie trzeba wierzyć systemowi — każde zdanie sprawdzicie w źródle.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Pojemność i szybkość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619250"/>
            <a:ext cx="3543300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200" y="1828800"/>
            <a:ext cx="30861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400" b="1">
                <a:solidFill>
                  <a:srgbClr val="1D2A4D"/>
                </a:solidFill>
                <a:latin typeface="Segoe UI"/>
              </a:rPr>
              <a:t>128 GB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1E293B"/>
                </a:solidFill>
                <a:latin typeface="Segoe UI"/>
              </a:rPr>
              <a:t>pamięci dla modelu</a:t>
            </a:r>
          </a:p>
          <a:p>
            <a:pPr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jedno urządzenie obsługuje cały szpital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4350" y="1619250"/>
            <a:ext cx="3543300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2950" y="1828800"/>
            <a:ext cx="30861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400" b="1">
                <a:solidFill>
                  <a:srgbClr val="1D2A4D"/>
                </a:solidFill>
                <a:latin typeface="Segoe UI"/>
              </a:rPr>
              <a:t>4 TB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1E293B"/>
                </a:solidFill>
                <a:latin typeface="Segoe UI"/>
              </a:rPr>
              <a:t>na dokumenty</a:t>
            </a:r>
          </a:p>
          <a:p>
            <a:pPr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setki tysięcy plików biurowych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9100" y="1619250"/>
            <a:ext cx="3543300" cy="12382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67700" y="1828800"/>
            <a:ext cx="30861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3400" b="1">
                <a:solidFill>
                  <a:srgbClr val="1D2A4D"/>
                </a:solidFill>
                <a:latin typeface="Segoe UI"/>
              </a:rPr>
              <a:t>~1 s</a:t>
            </a:r>
          </a:p>
          <a:p>
            <a:pPr>
              <a:lnSpc>
                <a:spcPct val="130000"/>
              </a:lnSpc>
            </a:pPr>
            <a:r>
              <a:rPr sz="1350" b="0">
                <a:solidFill>
                  <a:srgbClr val="1E293B"/>
                </a:solidFill>
                <a:latin typeface="Segoe UI"/>
              </a:rPr>
              <a:t>do pierwszego słowa odpowiedzi</a:t>
            </a:r>
          </a:p>
          <a:p>
            <a:pPr>
              <a:lnSpc>
                <a:spcPct val="130000"/>
              </a:lnSpc>
            </a:pPr>
            <a:r>
              <a:rPr sz="1000" b="0">
                <a:solidFill>
                  <a:srgbClr val="64748B"/>
                </a:solidFill>
                <a:latin typeface="Segoe UI"/>
              </a:rPr>
              <a:t>cała odpowiedź gotowa w ok. 15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067050"/>
            <a:ext cx="381000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150" b="1">
                <a:solidFill>
                  <a:srgbClr val="1D2A4D"/>
                </a:solidFill>
                <a:latin typeface="Segoe UI"/>
              </a:rPr>
              <a:t>Ile to trwa w praktyce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3333750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E293B"/>
                </a:solidFill>
                <a:latin typeface="Segoe UI"/>
              </a:rPr>
              <a:t>Czas do rozpoczęcia odpowiedzi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2350" y="3352800"/>
            <a:ext cx="98425" cy="142875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0" y="33337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E293B"/>
                </a:solidFill>
                <a:latin typeface="Segoe UI"/>
              </a:rPr>
              <a:t>ok. 1 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619500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E293B"/>
                </a:solidFill>
                <a:latin typeface="Segoe UI"/>
              </a:rPr>
              <a:t>Czas utworzenia całej odpowiedzi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2350" y="3638550"/>
            <a:ext cx="1476375" cy="142875"/>
          </a:xfrm>
          <a:prstGeom prst="rect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0" y="361950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E293B"/>
                </a:solidFill>
                <a:latin typeface="Segoe UI"/>
              </a:rPr>
              <a:t>ok. 15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905250"/>
            <a:ext cx="2857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0">
                <a:solidFill>
                  <a:srgbClr val="1E293B"/>
                </a:solidFill>
                <a:latin typeface="Segoe UI"/>
              </a:rPr>
              <a:t>Przygotowanie dokumentu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2350" y="3924300"/>
            <a:ext cx="5905500" cy="142875"/>
          </a:xfrm>
          <a:prstGeom prst="rect">
            <a:avLst/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3905250"/>
            <a:ext cx="1905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250" b="1">
                <a:solidFill>
                  <a:srgbClr val="1E293B"/>
                </a:solidFill>
                <a:latin typeface="Segoe UI"/>
              </a:rPr>
              <a:t>średnio ok. 60 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248150"/>
            <a:ext cx="104775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950" b="0">
                <a:solidFill>
                  <a:srgbClr val="64748B"/>
                </a:solidFill>
                <a:latin typeface="Segoe UI"/>
              </a:rPr>
              <a:t>Długość słupka odpowiada czasowi. Pomiary z działającego wdrożenia; przygotowanie dokumentu odbywa się raz, w tle, przy wgraniu pliku.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Baza rośnie, czas odpowiedzi stoi w miejscu.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Łatwość obsługi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7</a:t>
            </a:r>
          </a:p>
        </p:txBody>
      </p:sp>
      <p:pic>
        <p:nvPicPr>
          <p:cNvPr id="7" name="Picture 6" descr="makieta-cz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0" y="1714500"/>
            <a:ext cx="4914900" cy="3255268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09600" y="16954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8200" y="16192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Przeglądarka — nic do instalowania na komputerach pracowników</a:t>
            </a:r>
          </a:p>
        </p:txBody>
      </p:sp>
      <p:sp>
        <p:nvSpPr>
          <p:cNvPr id="10" name="Oval 9"/>
          <p:cNvSpPr/>
          <p:nvPr/>
        </p:nvSpPr>
        <p:spPr>
          <a:xfrm>
            <a:off x="609600" y="24193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8200" y="23431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Trzy ekrany: Dashboard, Pliki, Chat z AI. Administracja tylko dla administratora</a:t>
            </a:r>
          </a:p>
        </p:txBody>
      </p:sp>
      <p:sp>
        <p:nvSpPr>
          <p:cNvPr id="12" name="Oval 11"/>
          <p:cNvSpPr/>
          <p:nvPr/>
        </p:nvSpPr>
        <p:spPr>
          <a:xfrm>
            <a:off x="609600" y="31432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200" y="30670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Pytanie potoczne działa: „delegacja” znajdzie „podróż służbową”, „L4” — „zwolnienie lekarskie”</a:t>
            </a:r>
          </a:p>
        </p:txBody>
      </p:sp>
      <p:sp>
        <p:nvSpPr>
          <p:cNvPr id="14" name="Oval 13"/>
          <p:cNvSpPr/>
          <p:nvPr/>
        </p:nvSpPr>
        <p:spPr>
          <a:xfrm>
            <a:off x="609600" y="3867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200" y="37909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Wystarczy sama nazwa dokumentu, żeby dostać jego opis i odnośnik</a:t>
            </a:r>
          </a:p>
        </p:txBody>
      </p:sp>
      <p:sp>
        <p:nvSpPr>
          <p:cNvPr id="16" name="Oval 15"/>
          <p:cNvSpPr/>
          <p:nvPr/>
        </p:nvSpPr>
        <p:spPr>
          <a:xfrm>
            <a:off x="609600" y="45910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4514850"/>
            <a:ext cx="56769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Szkolenie pracownika: 20 minut. Instrukcja w aplikacji, pod przyciskiem Pomoc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Kto umie korzystać z wyszukiwarki internetowej, umie korzystać z tego.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Gdzie to pracuje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" y="1619250"/>
            <a:ext cx="3568700" cy="8953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" y="1771650"/>
            <a:ext cx="31877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Kadry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regulaminy, wnioski, PPK, ZFŚS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1650" y="1619250"/>
            <a:ext cx="3568700" cy="8953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02150" y="1771650"/>
            <a:ext cx="31877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Jakość i akredytacja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procedury, instrukcje, wersje obowiązujące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13700" y="1619250"/>
            <a:ext cx="3568700" cy="8953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4200" y="1771650"/>
            <a:ext cx="31877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Personel medyczny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procedury kliniczne i pielęgniarskie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9600" y="2628900"/>
            <a:ext cx="3568700" cy="8953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" y="2781300"/>
            <a:ext cx="31877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Administracja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umowy, zarządzenia, przetargi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1650" y="2628900"/>
            <a:ext cx="3568700" cy="8953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2150" y="2781300"/>
            <a:ext cx="31877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BHP · RODO · IT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polityki i instrukcje wewnętrzne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3700" y="2628900"/>
            <a:ext cx="3568700" cy="8953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4200" y="2781300"/>
            <a:ext cx="31877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50" b="1">
                <a:solidFill>
                  <a:srgbClr val="1D2A4D"/>
                </a:solidFill>
                <a:latin typeface="Segoe UI"/>
              </a:rPr>
              <a:t>Poza szpitalem</a:t>
            </a:r>
          </a:p>
          <a:p>
            <a:pPr>
              <a:lnSpc>
                <a:spcPct val="130000"/>
              </a:lnSpc>
            </a:pPr>
            <a:r>
              <a:rPr sz="1100" b="0">
                <a:solidFill>
                  <a:srgbClr val="64748B"/>
                </a:solidFill>
                <a:latin typeface="Segoe UI"/>
              </a:rPr>
              <a:t>uczelnie, urzędy, kancelarie, produkcja</a:t>
            </a:r>
          </a:p>
        </p:txBody>
      </p:sp>
      <p:sp>
        <p:nvSpPr>
          <p:cNvPr id="19" name="Oval 18"/>
          <p:cNvSpPr/>
          <p:nvPr/>
        </p:nvSpPr>
        <p:spPr>
          <a:xfrm>
            <a:off x="609600" y="38290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8200" y="37528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Zaczynamy zwykle od kadr — tam pytania powtarzają się najczęściej, efekt widać w pierwszym tygodniu</a:t>
            </a:r>
          </a:p>
        </p:txBody>
      </p:sp>
      <p:sp>
        <p:nvSpPr>
          <p:cNvPr id="21" name="Oval 20"/>
          <p:cNvSpPr/>
          <p:nvPr/>
        </p:nvSpPr>
        <p:spPr>
          <a:xfrm>
            <a:off x="609600" y="42672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8200" y="41910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Rozszerzenie na kolejny dział to wgranie dokumentów i nadanie uprawnień, nie nowe wdrożenie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Kolejny dział to wgranie dokumentów, a nie nowe wdrożenie.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Nasza rola: wdrożenie i wsparcie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619250"/>
            <a:ext cx="28575" cy="11430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2450" y="1657350"/>
            <a:ext cx="142875" cy="142875"/>
          </a:xfrm>
          <a:prstGeom prst="ellipse">
            <a:avLst/>
          </a:prstGeom>
          <a:solidFill>
            <a:srgbClr val="0F9B8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2000" y="1638300"/>
            <a:ext cx="33401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0F9B8E"/>
                </a:solidFill>
                <a:latin typeface="Segoe UI"/>
              </a:rPr>
              <a:t>TYDZIEŃ 1</a:t>
            </a:r>
          </a:p>
          <a:p>
            <a:pPr>
              <a:lnSpc>
                <a:spcPct val="125000"/>
              </a:lnSpc>
            </a:pPr>
            <a:r>
              <a:rPr sz="1500" b="1">
                <a:solidFill>
                  <a:srgbClr val="1D2A4D"/>
                </a:solidFill>
                <a:latin typeface="Segoe UI"/>
              </a:rPr>
              <a:t>Instalacja i uruchomienie</a:t>
            </a:r>
          </a:p>
          <a:p>
            <a:pPr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urządzenie w serwerowni, konta, uprawnienia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11650" y="1619250"/>
            <a:ext cx="28575" cy="11430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4500" y="1657350"/>
            <a:ext cx="142875" cy="142875"/>
          </a:xfrm>
          <a:prstGeom prst="ellipse">
            <a:avLst/>
          </a:prstGeom>
          <a:solidFill>
            <a:srgbClr val="0F9B8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64050" y="1638300"/>
            <a:ext cx="33401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0F9B8E"/>
                </a:solidFill>
                <a:latin typeface="Segoe UI"/>
              </a:rPr>
              <a:t>TYDZIEŃ 2</a:t>
            </a:r>
          </a:p>
          <a:p>
            <a:pPr>
              <a:lnSpc>
                <a:spcPct val="125000"/>
              </a:lnSpc>
            </a:pPr>
            <a:r>
              <a:rPr sz="1500" b="1">
                <a:solidFill>
                  <a:srgbClr val="1D2A4D"/>
                </a:solidFill>
                <a:latin typeface="Segoe UI"/>
              </a:rPr>
              <a:t>Wasze dokumenty i wzorce</a:t>
            </a:r>
          </a:p>
          <a:p>
            <a:pPr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wgrywamy pierwszą partię, układamy schematy pism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13700" y="1619250"/>
            <a:ext cx="28575" cy="11430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956550" y="1657350"/>
            <a:ext cx="142875" cy="142875"/>
          </a:xfrm>
          <a:prstGeom prst="ellipse">
            <a:avLst/>
          </a:prstGeom>
          <a:solidFill>
            <a:srgbClr val="0F9B8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66100" y="1638300"/>
            <a:ext cx="3340100" cy="952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0F9B8E"/>
                </a:solidFill>
                <a:latin typeface="Segoe UI"/>
              </a:rPr>
              <a:t>TYDZIEŃ 3</a:t>
            </a:r>
          </a:p>
          <a:p>
            <a:pPr>
              <a:lnSpc>
                <a:spcPct val="125000"/>
              </a:lnSpc>
            </a:pPr>
            <a:r>
              <a:rPr sz="1500" b="1">
                <a:solidFill>
                  <a:srgbClr val="1D2A4D"/>
                </a:solidFill>
                <a:latin typeface="Segoe UI"/>
              </a:rPr>
              <a:t>Szkolenia i start</a:t>
            </a:r>
          </a:p>
          <a:p>
            <a:pPr>
              <a:lnSpc>
                <a:spcPct val="135000"/>
              </a:lnSpc>
            </a:pPr>
            <a:r>
              <a:rPr sz="1150" b="0">
                <a:solidFill>
                  <a:srgbClr val="64748B"/>
                </a:solidFill>
                <a:latin typeface="Segoe UI"/>
              </a:rPr>
              <a:t>20 min dla użytkownika, 2 h dla administratora</a:t>
            </a:r>
          </a:p>
        </p:txBody>
      </p:sp>
      <p:sp>
        <p:nvSpPr>
          <p:cNvPr id="16" name="Oval 15"/>
          <p:cNvSpPr/>
          <p:nvPr/>
        </p:nvSpPr>
        <p:spPr>
          <a:xfrm>
            <a:off x="609600" y="29908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200" y="29146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Nie zostawiamy pustego systemu — pierwsza partia dokumentów wgrana i sprawdzona przez nas</a:t>
            </a:r>
          </a:p>
        </p:txBody>
      </p:sp>
      <p:sp>
        <p:nvSpPr>
          <p:cNvPr id="18" name="Oval 17"/>
          <p:cNvSpPr/>
          <p:nvPr/>
        </p:nvSpPr>
        <p:spPr>
          <a:xfrm>
            <a:off x="609600" y="34290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8200" y="33528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Wzorce pod Wasze pisma — system sam wyciąga numer, datę i osobę zatwierdzającą</a:t>
            </a:r>
          </a:p>
        </p:txBody>
      </p:sp>
      <p:sp>
        <p:nvSpPr>
          <p:cNvPr id="20" name="Oval 19"/>
          <p:cNvSpPr/>
          <p:nvPr/>
        </p:nvSpPr>
        <p:spPr>
          <a:xfrm>
            <a:off x="609600" y="386715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200" y="379095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Wsparcie miesięczne — aktualizacje, opieka nad jakością odpowiedzi, nowe rodzaje dokumentów</a:t>
            </a:r>
          </a:p>
        </p:txBody>
      </p:sp>
      <p:sp>
        <p:nvSpPr>
          <p:cNvPr id="22" name="Oval 21"/>
          <p:cNvSpPr/>
          <p:nvPr/>
        </p:nvSpPr>
        <p:spPr>
          <a:xfrm>
            <a:off x="609600" y="4305300"/>
            <a:ext cx="85725" cy="85725"/>
          </a:xfrm>
          <a:prstGeom prst="ellipse">
            <a:avLst/>
          </a:prstGeom>
          <a:solidFill>
            <a:srgbClr val="0F9B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8200" y="4229100"/>
            <a:ext cx="10744200" cy="2857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700" b="0">
                <a:solidFill>
                  <a:srgbClr val="1E293B"/>
                </a:solidFill>
                <a:latin typeface="Segoe UI"/>
              </a:rPr>
              <a:t>Kierunek rozwoju (poza obecną wersją): powiązania między dokumentami i wersja obowiązująca, podgląd PDF na cytowanej stronie, logowanie kontem domenowym, integracja z systemem szpitalnym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Przychodzimy z Waszymi dokumentami już w środku.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9525000" cy="571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3000" b="1">
                <a:solidFill>
                  <a:srgbClr val="1D2A4D"/>
                </a:solidFill>
                <a:latin typeface="Segoe UI"/>
              </a:rPr>
              <a:t>Warunki, następny krok i kontakt</a:t>
            </a:r>
          </a:p>
        </p:txBody>
      </p:sp>
      <p:sp>
        <p:nvSpPr>
          <p:cNvPr id="3" name="Rectangle 2"/>
          <p:cNvSpPr/>
          <p:nvPr/>
        </p:nvSpPr>
        <p:spPr>
          <a:xfrm>
            <a:off x="609600" y="1123950"/>
            <a:ext cx="914400" cy="47625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polmedi-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53700" y="419100"/>
            <a:ext cx="1028700" cy="342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6534150"/>
            <a:ext cx="4762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HiRS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39500" y="6534150"/>
            <a:ext cx="5715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50" b="0">
                <a:solidFill>
                  <a:srgbClr val="9AA5A5"/>
                </a:solidFill>
                <a:latin typeface="Segoe UI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" y="1619250"/>
          <a:ext cx="109728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0"/>
                <a:gridCol w="2590800"/>
              </a:tblGrid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64748B"/>
                          </a:solidFill>
                          <a:latin typeface="Segoe UI"/>
                        </a:rPr>
                        <a:t>POZYCJA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64748B"/>
                          </a:solidFill>
                          <a:latin typeface="Segoe UI"/>
                        </a:rPr>
                        <a:t>NETTO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Sprzęt: NVIDIA DGX Spark — 128 GB pamięci, 4 TB SSD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20 000 zł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Dostawa i wdrożenie oprogramowania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25 000 zł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Wsparcie i rozwój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>
                          <a:solidFill>
                            <a:srgbClr val="1E293B"/>
                          </a:solidFill>
                          <a:latin typeface="Segoe UI"/>
                        </a:rPr>
                        <a:t>1 000 zł / mies.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1D2A4D"/>
                          </a:solidFill>
                          <a:latin typeface="Segoe UI"/>
                        </a:rPr>
                        <a:t>Rok pierwszy łącznie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1D2A4D"/>
                          </a:solidFill>
                          <a:latin typeface="Segoe UI"/>
                        </a:rPr>
                        <a:t>57 000 zł</a:t>
                      </a:r>
                    </a:p>
                  </a:txBody>
                  <a:tcPr marL="95250" marR="9525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09600" y="3943350"/>
            <a:ext cx="28575" cy="4953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3900" y="3943350"/>
            <a:ext cx="336550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1E293B"/>
                </a:solidFill>
                <a:latin typeface="Segoe UI"/>
              </a:rPr>
              <a:t>Bez opłat za użytkownika i bez opłat za liczbę dokumentów.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56100" y="3943350"/>
            <a:ext cx="28575" cy="4953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70400" y="3943350"/>
            <a:ext cx="336550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1E293B"/>
                </a:solidFill>
                <a:latin typeface="Segoe UI"/>
              </a:rPr>
              <a:t>Sprzęt zostaje Wasz — nie płacicie abonamentu za dostęp do własnych danych.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02600" y="3943350"/>
            <a:ext cx="28575" cy="495300"/>
          </a:xfrm>
          <a:prstGeom prst="rect">
            <a:avLst/>
          </a:prstGeom>
          <a:solidFill>
            <a:srgbClr val="1FC8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6900" y="3943350"/>
            <a:ext cx="3365500" cy="4953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 b="0">
                <a:solidFill>
                  <a:srgbClr val="1E293B"/>
                </a:solidFill>
                <a:latin typeface="Segoe UI"/>
              </a:rPr>
              <a:t>Trzy lata użytkowania: 81 000 zł netto.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600" y="4667250"/>
            <a:ext cx="5372100" cy="4381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2000" y="47720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Piotr Piątek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4800600"/>
            <a:ext cx="18097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wyceny, umowa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6700" y="4772025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1">
                <a:solidFill>
                  <a:srgbClr val="0F9B8E"/>
                </a:solidFill>
                <a:latin typeface="Segoe UI"/>
              </a:rPr>
              <a:t>tel. 501 674 303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0300" y="4667250"/>
            <a:ext cx="5372100" cy="43815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62700" y="4772025"/>
            <a:ext cx="18097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D2A4D"/>
                </a:solidFill>
                <a:latin typeface="Segoe UI"/>
              </a:rPr>
              <a:t>Marcin Cieślak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15300" y="4800600"/>
            <a:ext cx="1809750" cy="2095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50" b="0">
                <a:solidFill>
                  <a:srgbClr val="64748B"/>
                </a:solidFill>
                <a:latin typeface="Segoe UI"/>
              </a:rPr>
              <a:t>sprawy techniczne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77400" y="4772025"/>
            <a:ext cx="1752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50" b="1">
                <a:solidFill>
                  <a:srgbClr val="0F9B8E"/>
                </a:solidFill>
                <a:latin typeface="Segoe UI"/>
              </a:rPr>
              <a:t>tel. 602 220 693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9600" y="5676900"/>
            <a:ext cx="10972800" cy="590550"/>
          </a:xfrm>
          <a:prstGeom prst="roundRect">
            <a:avLst>
              <a:gd name="adj" fmla="val 6000"/>
            </a:avLst>
          </a:prstGeom>
          <a:solidFill>
            <a:srgbClr val="1D2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9550" tIns="0"/>
          <a:lstStyle/>
          <a:p>
            <a:pPr algn="l">
              <a:lnSpc>
                <a:spcPct val="125000"/>
              </a:lnSpc>
            </a:pPr>
            <a:r>
              <a:rPr sz="1650" b="1">
                <a:solidFill>
                  <a:srgbClr val="FFFFFF"/>
                </a:solidFill>
                <a:latin typeface="Segoe UI"/>
              </a:rPr>
              <a:t>Następny krok: dwutygodniowe uruchomienie próbne na Waszych dokumentach — u Was, bez zobowiązania.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676900"/>
            <a:ext cx="57150" cy="590550"/>
          </a:xfrm>
          <a:prstGeom prst="rect">
            <a:avLst/>
          </a:prstGeom>
          <a:gradFill rotWithShape="1">
            <a:gsLst>
              <a:gs pos="0">
                <a:srgbClr val="1D2A4D"/>
              </a:gs>
              <a:gs pos="100000">
                <a:srgbClr val="1FC8B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