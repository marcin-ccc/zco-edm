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nie brak dokumentów, tylko czas dostępu i pewność wersji. Każde „gdzie to jest?” kosztuje dwie osoby — pytającego i tę, która odpowiada.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Trzy drogi do dokumentu: przeglądanie, pytanie o treść, wyszukiwanie po opisie. Pracownik wybiera bliższą sobie.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jest różnica wobec chmury: pytanie o dokument kadrowy nie wychodzi z organizacji. Przez sieć idzie tylko ruch przeglądarka–serwer.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cytowanie w publikacji — każde twierdzenie sprawdzalne w dwie sekundy. Warunek konieczny przy procedurach medycznych.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Liczby z działającego wdrożenia, nie z folderu producenta. Pojemność ogranicza dysk, nie wydajność. Urządzenie wielkości książki, pobór prądu jak stacja robocza.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Sprawdzianem jest osoba, która nie chce uczyć się nowego programu. Kto umie korzystać z wyszukiwarki, umie korzystać z tego.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sam system sprawdzi się wszędzie tam, gdzie jest duży zasób dokumentów wewnętrznych.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Najczęstszy powód, dla którego takie systemy umierają, to pusty start. Ostatni punkt to plan — tych elementów nie ma jeszcze w wersji pokazywanej dziś.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 proszę o decyzję zakupową, tylko o test na własnych dokumentach. Jeśli po dwóch tygodniach kadry powiedzą, że to nie pomaga — rozstajemy się bez kosztów. Do Piotra dzwonicie w sprawie wyceny i umowy, do mnie — gdy pytanie jest techniczne.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343150"/>
            <a:ext cx="1143000" cy="571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24150"/>
            <a:ext cx="9525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800" b="1">
                <a:solidFill>
                  <a:srgbClr val="FFFFFF"/>
                </a:solidFill>
                <a:latin typeface="Segoe UI"/>
              </a:rPr>
              <a:t>HiRS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433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C7F3F3"/>
                </a:solidFill>
                <a:latin typeface="Segoe UI"/>
              </a:rPr>
              <a:t>Hospital Information Retrieval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43350"/>
            <a:ext cx="838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900" b="0">
                <a:solidFill>
                  <a:srgbClr val="FFFFFF"/>
                </a:solidFill>
                <a:latin typeface="Segoe UI"/>
              </a:rPr>
              <a:t>Pytasz jak człowieka. Odpowiada z Waszych dokumentów.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FFFFFF"/>
                </a:solidFill>
                <a:latin typeface="Segoe UI"/>
              </a:rPr>
              <a:t>Nic nie wychodzi poza szpital.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6265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Polmedi Group sp. z o.o., Poznań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B9C6EA"/>
                </a:solidFill>
                <a:latin typeface="Segoe UI"/>
              </a:rPr>
              <a:t>24 sierpnia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34600" y="6057900"/>
            <a:ext cx="14478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615315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Problem, który znają wszyscy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6192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Dokument jest — tylko nie wiadomo, w którym folderze i która wersja obowiązuje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21336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0574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Nowy pracownik pyta koleżankę zamiast szukać w regulaminie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25717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24955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Ta sama odpowiedź udzielana dziesiątki razy przez kadry i dział jakości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30099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29337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Przy akredytacji i kontroli liczy się czas dotarcia do właściwego zapisu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3448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33718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Chmura odpada: dokumentacja szpitala nie może trafiać do zewnętrznego dostawcy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Wiedza jest w dokumentach. Problemem jest droga do niej.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Co dostajecie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3</a:t>
            </a:r>
          </a:p>
        </p:txBody>
      </p:sp>
      <p:pic>
        <p:nvPicPr>
          <p:cNvPr id="7" name="Picture 6" descr="makieta-pli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714500"/>
            <a:ext cx="4914900" cy="28798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6192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Repozytorium — foldery, uprawnienia, statusy przetwarzania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4193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3431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Chat z AI — pytanie zwykłym językiem, odpowiedź z odnośnikami do stron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1432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067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Wyszukiwarka po polach — „zarządzenia z 2024”, „procedury zatwierdzone przez…”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790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Automatyczne rozpoznawanie — rodzaj pisma, numer, data, osoba zatwierdzająca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" y="4591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514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Instrukcja obsługi wbudowana w aplikację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Trzy drogi do dokumentu — pracownik wybiera tę, która jest mu bliższa.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Bezpieczeństwo i prywatność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7620000" cy="18097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7907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FC8BA"/>
                </a:solidFill>
                <a:latin typeface="Segoe UI"/>
              </a:rPr>
              <a:t>WASZA SERWEROWNIA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34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30505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Aplikacja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DBE4F7"/>
                </a:solidFill>
                <a:latin typeface="Segoe UI"/>
              </a:rPr>
              <a:t>przeglądarka pracownika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12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34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3600" y="230505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Model językowy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DBE4F7"/>
                </a:solidFill>
                <a:latin typeface="Segoe UI"/>
              </a:rPr>
              <a:t>działa na Waszym urządzeniu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023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34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4700" y="230505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Dokumenty i indeks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DBE4F7"/>
                </a:solidFill>
                <a:latin typeface="Segoe UI"/>
              </a:rPr>
              <a:t>dysk w serwerowni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4900" y="1847850"/>
            <a:ext cx="0" cy="914400"/>
          </a:xfrm>
          <a:prstGeom prst="rect">
            <a:avLst/>
          </a:prstGeom>
          <a:ln w="38100">
            <a:solidFill>
              <a:srgbClr val="0F9B8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876550"/>
            <a:ext cx="9906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F9B8E"/>
                </a:solidFill>
                <a:latin typeface="Segoe UI"/>
              </a:rPr>
              <a:t>brak połączenia z usługami zewnętrznymi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9250" y="1619250"/>
            <a:ext cx="2343150" cy="18097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1650" y="2152650"/>
            <a:ext cx="20383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Internet</a:t>
            </a:r>
          </a:p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1E293B"/>
                </a:solidFill>
                <a:latin typeface="Segoe UI"/>
              </a:rPr>
              <a:t>nie wychodzi tu żaden dokument, fragment ani pytanie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" y="38100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7338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Dostęp do folderów nadawany rolom — użytkownik widzi tylko swoje, także w czacie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248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1719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Historia pytań prywatna; administrator widzi statystyki, nie cudze rozmowy</a:t>
            </a:r>
          </a:p>
        </p:txBody>
      </p:sp>
      <p:sp>
        <p:nvSpPr>
          <p:cNvPr id="23" name="Oval 22"/>
          <p:cNvSpPr/>
          <p:nvPr/>
        </p:nvSpPr>
        <p:spPr>
          <a:xfrm>
            <a:off x="609600" y="46863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46101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Automatyczne wylogowanie po bezczynności, zmiana hasła za potwierdzeniem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Żaden dokument, fragment ani pytanie nie opuszcza Waszej sieci.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Skąd pewność, że odpowiedź jest prawdziwa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Pytanie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zwykłym językiem, np. „jak zgłosić zdarzenie niepożądane?”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5162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F9B8E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4712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7112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7112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Wyszukanie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system znajduje fragmenty w Waszych plikach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0275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F9B8E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9825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2225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Odpowiedź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zbudowana wyłącznie z tych fragmentów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5387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F9B8E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4937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7337" y="1752600"/>
            <a:ext cx="247650" cy="24765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7337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Dowód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numer przy zdaniu prowadzi do dokumentu i strony</a:t>
            </a:r>
          </a:p>
        </p:txBody>
      </p:sp>
      <p:sp>
        <p:nvSpPr>
          <p:cNvPr id="22" name="Oval 21"/>
          <p:cNvSpPr/>
          <p:nvPr/>
        </p:nvSpPr>
        <p:spPr>
          <a:xfrm>
            <a:off x="609600" y="32385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31623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Odpowiedź powstaje wyłącznie z fragmentów Waszych plików</a:t>
            </a:r>
          </a:p>
        </p:txBody>
      </p:sp>
      <p:sp>
        <p:nvSpPr>
          <p:cNvPr id="24" name="Oval 23"/>
          <p:cNvSpPr/>
          <p:nvPr/>
        </p:nvSpPr>
        <p:spPr>
          <a:xfrm>
            <a:off x="609600" y="36766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36004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Brak dopasowania = jasny komunikat zamiast wymyślonej treści</a:t>
            </a:r>
          </a:p>
        </p:txBody>
      </p:sp>
      <p:sp>
        <p:nvSpPr>
          <p:cNvPr id="26" name="Oval 25"/>
          <p:cNvSpPr/>
          <p:nvPr/>
        </p:nvSpPr>
        <p:spPr>
          <a:xfrm>
            <a:off x="609600" y="41148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" y="40386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Widać też, ile dokumentów sprawdzono i z których nie skorzystano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Nie trzeba wierzyć systemowi — każde zdanie sprawdzicie w źródle.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Pojemność i szybkość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D2A4D"/>
                </a:solidFill>
                <a:latin typeface="Segoe UI"/>
              </a:rPr>
              <a:t>128 GB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pamięci dla modelu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jedno urządzenie obsługuje cały szpital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435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295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D2A4D"/>
                </a:solidFill>
                <a:latin typeface="Segoe UI"/>
              </a:rPr>
              <a:t>4 TB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na dokumenty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setki tysięcy plików biurowych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10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770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D2A4D"/>
                </a:solidFill>
                <a:latin typeface="Segoe UI"/>
              </a:rPr>
              <a:t>~1 s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do pierwszego słowa odpowiedzi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cała odpowiedź gotowa w ok. 15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067050"/>
            <a:ext cx="381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1D2A4D"/>
                </a:solidFill>
                <a:latin typeface="Segoe UI"/>
              </a:rPr>
              <a:t>Ile to trwa w praktyce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337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Czas do rozpoczęcia odpowiedzi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2350" y="3352800"/>
            <a:ext cx="98425" cy="142875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3337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E293B"/>
                </a:solidFill>
                <a:latin typeface="Segoe UI"/>
              </a:rPr>
              <a:t>ok. 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6195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Czas utworzenia całej odpowiedzi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2350" y="3638550"/>
            <a:ext cx="1476375" cy="142875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619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E293B"/>
                </a:solidFill>
                <a:latin typeface="Segoe UI"/>
              </a:rPr>
              <a:t>ok. 15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9052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Przygotowanie dokumentu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2350" y="3924300"/>
            <a:ext cx="5905500" cy="142875"/>
          </a:xfrm>
          <a:prstGeom prst="rect">
            <a:avLst/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39052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E293B"/>
                </a:solidFill>
                <a:latin typeface="Segoe UI"/>
              </a:rPr>
              <a:t>średnio ok. 60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24815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Długość słupka odpowiada czasowi. Pomiary z działającego wdrożenia; przygotowanie dokumentu odbywa się raz, w tle, przy wgraniu pliku.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Baza rośnie, czas odpowiedzi stoi w miejscu.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Łatwość obsługi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makieta-cz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714500"/>
            <a:ext cx="4914900" cy="325526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6192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Przeglądarka — nic do instalowania na komputerach pracowników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4193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3431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Trzy ekrany: Dashboard, Pliki, Chat z AI. Administracja tylko dla administratora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1432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067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Pytanie potoczne działa: „delegacja” znajdzie „podróż służbową”, „L4” — „zwolnienie lekarskie”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790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Wystarczy sama nazwa dokumentu, żeby dostać jego opis i odnośnik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" y="4591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514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Szkolenie pracownika: 20 minut. Instrukcja w aplikacji, pod przyciskiem Pomoc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Kto umie korzystać z wyszukiwarki internetowej, umie korzystać z tego.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Gdzie to pracuje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77165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Kadry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regulaminy, wnioski, PPK, ZFŚS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1650" y="161925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2150" y="177165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Jakość i akredytacja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procedury, instrukcje, wersje obowiązujące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3700" y="161925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4200" y="177165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Personel medyczny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procedury kliniczne i pielęgniarskie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262890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278130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Administracja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umowy, zarządzenia, przetargi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1650" y="262890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2150" y="278130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BHP · RODO · IT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polityki i instrukcje wewnętrzne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700" y="262890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4200" y="278130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1D2A4D"/>
                </a:solidFill>
                <a:latin typeface="Segoe UI"/>
              </a:rPr>
              <a:t>Poza szpitalem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uczelnie, urzędy, kancelarie, produkcja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" y="38290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7528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Zaczynamy zwykle od kadr — tam pytania powtarzają się najczęściej, efekt widać w pierwszym tygodniu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2672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1910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Rozszerzenie na kolejny dział to wgranie dokumentów i nadanie uprawnień, nie nowe wdrożenie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Kolejny dział to wgranie dokumentów, a nie nowe wdrożenie.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Nasza rola: wdrożenie i wsparcie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619250"/>
            <a:ext cx="28575" cy="11430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2450" y="1657350"/>
            <a:ext cx="142875" cy="142875"/>
          </a:xfrm>
          <a:prstGeom prst="ellipse">
            <a:avLst/>
          </a:prstGeom>
          <a:solidFill>
            <a:srgbClr val="0F9B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F9B8E"/>
                </a:solidFill>
                <a:latin typeface="Segoe UI"/>
              </a:rPr>
              <a:t>TYDZIEŃ 1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D2A4D"/>
                </a:solidFill>
                <a:latin typeface="Segoe UI"/>
              </a:rPr>
              <a:t>Instalacja i uruchomienie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urządzenie w serwerowni, konta, uprawnienia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1650" y="1619250"/>
            <a:ext cx="28575" cy="11430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4500" y="1657350"/>
            <a:ext cx="142875" cy="142875"/>
          </a:xfrm>
          <a:prstGeom prst="ellipse">
            <a:avLst/>
          </a:prstGeom>
          <a:solidFill>
            <a:srgbClr val="0F9B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5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F9B8E"/>
                </a:solidFill>
                <a:latin typeface="Segoe UI"/>
              </a:rPr>
              <a:t>TYDZIEŃ 2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D2A4D"/>
                </a:solidFill>
                <a:latin typeface="Segoe UI"/>
              </a:rPr>
              <a:t>Wasze dokumenty i wzorce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wgrywamy pierwszą partię, układamy schematy pism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3700" y="1619250"/>
            <a:ext cx="28575" cy="11430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6550" y="1657350"/>
            <a:ext cx="142875" cy="142875"/>
          </a:xfrm>
          <a:prstGeom prst="ellipse">
            <a:avLst/>
          </a:prstGeom>
          <a:solidFill>
            <a:srgbClr val="0F9B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610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F9B8E"/>
                </a:solidFill>
                <a:latin typeface="Segoe UI"/>
              </a:rPr>
              <a:t>TYDZIEŃ 3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1D2A4D"/>
                </a:solidFill>
                <a:latin typeface="Segoe UI"/>
              </a:rPr>
              <a:t>Szkolenia i start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20 min dla użytkownika, 2 h dla administratora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" y="29908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29146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Nie zostawiamy pustego systemu — pierwsza partia dokumentów wgrana i sprawdzona przez nas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34290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33528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Wzorce pod Wasze pisma — system sam wyciąga numer, datę i osobę zatwierdzającą</a:t>
            </a:r>
          </a:p>
        </p:txBody>
      </p:sp>
      <p:sp>
        <p:nvSpPr>
          <p:cNvPr id="20" name="Oval 19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7909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Wsparcie miesięczne — aktualizacje, opieka nad jakością odpowiedzi, nowe rodzaje dokumentów</a:t>
            </a:r>
          </a:p>
        </p:txBody>
      </p:sp>
      <p:sp>
        <p:nvSpPr>
          <p:cNvPr id="22" name="Oval 21"/>
          <p:cNvSpPr/>
          <p:nvPr/>
        </p:nvSpPr>
        <p:spPr>
          <a:xfrm>
            <a:off x="609600" y="4305300"/>
            <a:ext cx="85725" cy="85725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42291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E293B"/>
                </a:solidFill>
                <a:latin typeface="Segoe UI"/>
              </a:rPr>
              <a:t>Kierunek rozwoju (poza obecną wersją): powiązania między dokumentami i wersja obowiązująca, podgląd PDF na cytowanej stronie, logowanie kontem domenowym, integracja z systemem szpitalnym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Przychodzimy z Waszymi dokumentami już w środku.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1D2A4D"/>
                </a:solidFill>
                <a:latin typeface="Segoe UI"/>
              </a:rPr>
              <a:t>Warunki, następny krok i kontakt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HiRS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619250"/>
          <a:ext cx="109728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0"/>
                <a:gridCol w="25908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</a:rPr>
                        <a:t>POZYCJA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</a:rPr>
                        <a:t>NETTO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Sprzęt: NVIDIA DGX Spark — 128 GB pamięci, 4 TB SSD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20 000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Dostawa i wdrożenie oprogramowania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25 000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Wsparcie i rozwój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E293B"/>
                          </a:solidFill>
                          <a:latin typeface="Segoe UI"/>
                        </a:rPr>
                        <a:t>1 000 zł / mies.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D2A4D"/>
                          </a:solidFill>
                          <a:latin typeface="Segoe UI"/>
                        </a:rPr>
                        <a:t>Rok pierwszy łącznie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D2A4D"/>
                          </a:solidFill>
                          <a:latin typeface="Segoe UI"/>
                        </a:rPr>
                        <a:t>57 000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" y="3943350"/>
            <a:ext cx="28575" cy="4953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Bez opłat za użytkownika i bez opłat za liczbę dokumentów.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6100" y="3943350"/>
            <a:ext cx="28575" cy="4953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04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Sprzęt zostaje Wasz — nie płacicie abonamentu za dostęp do własnych danych.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2600" y="3943350"/>
            <a:ext cx="28575" cy="495300"/>
          </a:xfrm>
          <a:prstGeom prst="rect">
            <a:avLst/>
          </a:prstGeom>
          <a:solidFill>
            <a:srgbClr val="1F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9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Trzy lata użytkowania: 81 000 zł netto.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4667250"/>
            <a:ext cx="5372100" cy="4381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47720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Piotr Piątek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8006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wyceny, umowa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6700" y="4772025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1">
                <a:solidFill>
                  <a:srgbClr val="0F9B8E"/>
                </a:solidFill>
                <a:latin typeface="Segoe UI"/>
              </a:rPr>
              <a:t>tel. 501 674 303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300" y="4667250"/>
            <a:ext cx="5372100" cy="43815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2700" y="47720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D2A4D"/>
                </a:solidFill>
                <a:latin typeface="Segoe UI"/>
              </a:rPr>
              <a:t>Marcin Cieślak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300" y="48006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sprawy techniczne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7400" y="4772025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1">
                <a:solidFill>
                  <a:srgbClr val="0F9B8E"/>
                </a:solidFill>
                <a:latin typeface="Segoe UI"/>
              </a:rPr>
              <a:t>tel. 602 220 693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1D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Następny krok: dwutygodniowe uruchomienie próbne na Waszych dokumentach — u Was, bez zobowiązania.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1D2A4D"/>
              </a:gs>
              <a:gs pos="100000">
                <a:srgbClr val="1FC8B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