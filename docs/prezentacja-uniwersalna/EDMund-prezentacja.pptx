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nie brak dokumentów, tylko czas dostępu i pewność wersji. Każde „gdzie to jest?” kosztuje dwie osoby — pytającego i tę, która odpowiada.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Trzy drogi do dokumentu: przeglądanie, pytanie o treść, wyszukiwanie po opisie.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 jest różnica wobec chmury: pytanie o dokument kadrowy nie wychodzi z organizacji. Przez sieć idzie tylko ruch przeglądarka–serwer.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Jak cytowanie w publikacji — każde twierdzenie sprawdzalne w dwie sekundy.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Liczby z działającego wdrożenia, nie z folderu producenta. Pojemność ogranicza dysk, nie wydajność. Urządzenie wielkości książki, pobór prądu jak stacja robocza.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Sprawdzianem jest osoba, która nie chce uczyć się nowego programu.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System sprawdzi się wszędzie tam, gdzie jest duży zasób dokumentów wewnętrznych.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Najczęstszy powód, dla którego takie systemy umierają, to pusty start. Ostatni punkt to plan, nie stan obecny.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Nie proszę o decyzję zakupową, tylko o test na własnych dokumentach.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Piotra w sprawie wyceny i umowy, do mnie — gdy pytanie jest techniczne.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4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343150"/>
            <a:ext cx="1143000" cy="57150"/>
          </a:xfrm>
          <a:prstGeom prst="rect">
            <a:avLst/>
          </a:prstGeom>
          <a:gradFill rotWithShape="1">
            <a:gsLst>
              <a:gs pos="0">
                <a:srgbClr val="2448C8"/>
              </a:gs>
              <a:gs pos="100000">
                <a:srgbClr val="09AFA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724150"/>
            <a:ext cx="95250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5800" b="1">
                <a:solidFill>
                  <a:srgbClr val="FFFFFF"/>
                </a:solidFill>
                <a:latin typeface="Segoe UI"/>
              </a:rPr>
              <a:t>EDMund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5433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500" b="0">
                <a:solidFill>
                  <a:srgbClr val="C7F3F3"/>
                </a:solidFill>
                <a:latin typeface="Segoe UI"/>
              </a:rPr>
              <a:t>Enterprise Document Management — czyli mów mi Mundek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943350"/>
            <a:ext cx="8382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900" b="0">
                <a:solidFill>
                  <a:srgbClr val="FFFFFF"/>
                </a:solidFill>
                <a:latin typeface="Segoe UI"/>
              </a:rPr>
              <a:t>Pytasz jak człowieka. Odpowiada z Waszych dokumentów.</a:t>
            </a:r>
          </a:p>
          <a:p>
            <a:pPr>
              <a:lnSpc>
                <a:spcPct val="145000"/>
              </a:lnSpc>
            </a:pPr>
            <a:r>
              <a:rPr sz="1900" b="0">
                <a:solidFill>
                  <a:srgbClr val="FFFFFF"/>
                </a:solidFill>
                <a:latin typeface="Segoe UI"/>
              </a:rPr>
              <a:t>Nic nie wychodzi poza Waszą sieć.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962650"/>
            <a:ext cx="6667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EAF0FF"/>
                </a:solidFill>
                <a:latin typeface="Segoe UI"/>
              </a:rPr>
              <a:t>Polmedi Group sp. z o.o., Poznań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B9C6EA"/>
                </a:solidFill>
                <a:latin typeface="Segoe UI"/>
              </a:rPr>
              <a:t>1 sierpnia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34600" y="6057900"/>
            <a:ext cx="14478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polmedi-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615315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9525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 b="1">
                <a:solidFill>
                  <a:srgbClr val="2448C8"/>
                </a:solidFill>
                <a:latin typeface="Segoe UI"/>
              </a:rPr>
              <a:t>Problem, który znają wszyscy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123950"/>
            <a:ext cx="914400" cy="47625"/>
          </a:xfrm>
          <a:prstGeom prst="rect">
            <a:avLst/>
          </a:prstGeom>
          <a:gradFill rotWithShape="1">
            <a:gsLst>
              <a:gs pos="0">
                <a:srgbClr val="2448C8"/>
              </a:gs>
              <a:gs pos="100000">
                <a:srgbClr val="09AFA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polmedi-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3700" y="419100"/>
            <a:ext cx="1028700" cy="34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5341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950" b="0">
                <a:solidFill>
                  <a:srgbClr val="9AA5A5"/>
                </a:solidFill>
                <a:latin typeface="Segoe UI"/>
              </a:rPr>
              <a:t>EDMund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653415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9AA5A5"/>
                </a:solidFill>
                <a:latin typeface="Segoe UI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609600" y="1695450"/>
            <a:ext cx="85725" cy="85725"/>
          </a:xfrm>
          <a:prstGeom prst="ellipse">
            <a:avLst/>
          </a:prstGeom>
          <a:solidFill>
            <a:srgbClr val="0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161925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465050"/>
                </a:solidFill>
                <a:latin typeface="Segoe UI"/>
              </a:rPr>
              <a:t>Dokument jest — tylko nie wiadomo, w którym folderze i która wersja obowiązuje</a:t>
            </a:r>
          </a:p>
        </p:txBody>
      </p:sp>
      <p:sp>
        <p:nvSpPr>
          <p:cNvPr id="9" name="Oval 8"/>
          <p:cNvSpPr/>
          <p:nvPr/>
        </p:nvSpPr>
        <p:spPr>
          <a:xfrm>
            <a:off x="609600" y="2133600"/>
            <a:ext cx="85725" cy="85725"/>
          </a:xfrm>
          <a:prstGeom prst="ellipse">
            <a:avLst/>
          </a:prstGeom>
          <a:solidFill>
            <a:srgbClr val="0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05740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465050"/>
                </a:solidFill>
                <a:latin typeface="Segoe UI"/>
              </a:rPr>
              <a:t>Nowa osoba pyta koleżankę zamiast szukać w regulaminie</a:t>
            </a:r>
          </a:p>
        </p:txBody>
      </p:sp>
      <p:sp>
        <p:nvSpPr>
          <p:cNvPr id="11" name="Oval 10"/>
          <p:cNvSpPr/>
          <p:nvPr/>
        </p:nvSpPr>
        <p:spPr>
          <a:xfrm>
            <a:off x="609600" y="2571750"/>
            <a:ext cx="85725" cy="85725"/>
          </a:xfrm>
          <a:prstGeom prst="ellipse">
            <a:avLst/>
          </a:prstGeom>
          <a:solidFill>
            <a:srgbClr val="0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200" y="249555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465050"/>
                </a:solidFill>
                <a:latin typeface="Segoe UI"/>
              </a:rPr>
              <a:t>Ta sama odpowiedź udzielana dziesiątki razy przez kadry i dział jakości</a:t>
            </a:r>
          </a:p>
        </p:txBody>
      </p:sp>
      <p:sp>
        <p:nvSpPr>
          <p:cNvPr id="13" name="Oval 12"/>
          <p:cNvSpPr/>
          <p:nvPr/>
        </p:nvSpPr>
        <p:spPr>
          <a:xfrm>
            <a:off x="609600" y="3009900"/>
            <a:ext cx="85725" cy="85725"/>
          </a:xfrm>
          <a:prstGeom prst="ellipse">
            <a:avLst/>
          </a:prstGeom>
          <a:solidFill>
            <a:srgbClr val="0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293370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465050"/>
                </a:solidFill>
                <a:latin typeface="Segoe UI"/>
              </a:rPr>
              <a:t>Przy audycie i kontroli liczy się czas dotarcia do właściwego zapisu</a:t>
            </a:r>
          </a:p>
        </p:txBody>
      </p:sp>
      <p:sp>
        <p:nvSpPr>
          <p:cNvPr id="15" name="Oval 14"/>
          <p:cNvSpPr/>
          <p:nvPr/>
        </p:nvSpPr>
        <p:spPr>
          <a:xfrm>
            <a:off x="609600" y="3448050"/>
            <a:ext cx="85725" cy="85725"/>
          </a:xfrm>
          <a:prstGeom prst="ellipse">
            <a:avLst/>
          </a:prstGeom>
          <a:solidFill>
            <a:srgbClr val="0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337185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465050"/>
                </a:solidFill>
                <a:latin typeface="Segoe UI"/>
              </a:rPr>
              <a:t>Chmura odpada: dokumenty wewnętrzne nie mogą trafiać do zewnętrznego dostawcy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600" y="5676900"/>
            <a:ext cx="10972800" cy="590550"/>
          </a:xfrm>
          <a:prstGeom prst="roundRect">
            <a:avLst>
              <a:gd name="adj" fmla="val 6000"/>
            </a:avLst>
          </a:prstGeom>
          <a:solidFill>
            <a:srgbClr val="244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9550" tIns="0"/>
          <a:lstStyle/>
          <a:p>
            <a:pPr algn="l">
              <a:lnSpc>
                <a:spcPct val="125000"/>
              </a:lnSpc>
            </a:pPr>
            <a:r>
              <a:rPr sz="1650" b="1">
                <a:solidFill>
                  <a:srgbClr val="FFFFFF"/>
                </a:solidFill>
                <a:latin typeface="Segoe UI"/>
              </a:rPr>
              <a:t>Wiedza jest w dokumentach. Problemem jest droga do niej.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5676900"/>
            <a:ext cx="57150" cy="590550"/>
          </a:xfrm>
          <a:prstGeom prst="rect">
            <a:avLst/>
          </a:prstGeom>
          <a:gradFill rotWithShape="1">
            <a:gsLst>
              <a:gs pos="0">
                <a:srgbClr val="2448C8"/>
              </a:gs>
              <a:gs pos="100000">
                <a:srgbClr val="09AFA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9525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 b="1">
                <a:solidFill>
                  <a:srgbClr val="2448C8"/>
                </a:solidFill>
                <a:latin typeface="Segoe UI"/>
              </a:rPr>
              <a:t>Co dostajecie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123950"/>
            <a:ext cx="914400" cy="47625"/>
          </a:xfrm>
          <a:prstGeom prst="rect">
            <a:avLst/>
          </a:prstGeom>
          <a:gradFill rotWithShape="1">
            <a:gsLst>
              <a:gs pos="0">
                <a:srgbClr val="2448C8"/>
              </a:gs>
              <a:gs pos="100000">
                <a:srgbClr val="09AFA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polmedi-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3700" y="419100"/>
            <a:ext cx="1028700" cy="34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5341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950" b="0">
                <a:solidFill>
                  <a:srgbClr val="9AA5A5"/>
                </a:solidFill>
                <a:latin typeface="Segoe UI"/>
              </a:rPr>
              <a:t>EDMund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653415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9AA5A5"/>
                </a:solidFill>
                <a:latin typeface="Segoe UI"/>
              </a:rPr>
              <a:t>3</a:t>
            </a:r>
          </a:p>
        </p:txBody>
      </p:sp>
      <p:pic>
        <p:nvPicPr>
          <p:cNvPr id="7" name="Picture 6" descr="makieta-plik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714500"/>
            <a:ext cx="4914900" cy="2875558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609600" y="1695450"/>
            <a:ext cx="85725" cy="85725"/>
          </a:xfrm>
          <a:prstGeom prst="ellipse">
            <a:avLst/>
          </a:prstGeom>
          <a:solidFill>
            <a:srgbClr val="0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1619250"/>
            <a:ext cx="56769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465050"/>
                </a:solidFill>
                <a:latin typeface="Segoe UI"/>
              </a:rPr>
              <a:t>Repozytorium — foldery, uprawnienia, statusy przetwarzania</a:t>
            </a:r>
          </a:p>
        </p:txBody>
      </p:sp>
      <p:sp>
        <p:nvSpPr>
          <p:cNvPr id="10" name="Oval 9"/>
          <p:cNvSpPr/>
          <p:nvPr/>
        </p:nvSpPr>
        <p:spPr>
          <a:xfrm>
            <a:off x="609600" y="2419350"/>
            <a:ext cx="85725" cy="85725"/>
          </a:xfrm>
          <a:prstGeom prst="ellipse">
            <a:avLst/>
          </a:prstGeom>
          <a:solidFill>
            <a:srgbClr val="0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2343150"/>
            <a:ext cx="56769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465050"/>
                </a:solidFill>
                <a:latin typeface="Segoe UI"/>
              </a:rPr>
              <a:t>Baza wiedzy — pytanie zwykłym językiem, odpowiedź z odnośnikami do stron</a:t>
            </a:r>
          </a:p>
        </p:txBody>
      </p:sp>
      <p:sp>
        <p:nvSpPr>
          <p:cNvPr id="12" name="Oval 11"/>
          <p:cNvSpPr/>
          <p:nvPr/>
        </p:nvSpPr>
        <p:spPr>
          <a:xfrm>
            <a:off x="609600" y="3143250"/>
            <a:ext cx="85725" cy="85725"/>
          </a:xfrm>
          <a:prstGeom prst="ellipse">
            <a:avLst/>
          </a:prstGeom>
          <a:solidFill>
            <a:srgbClr val="0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" y="3067050"/>
            <a:ext cx="56769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465050"/>
                </a:solidFill>
                <a:latin typeface="Segoe UI"/>
              </a:rPr>
              <a:t>Wyszukiwarka po polach — „zarządzenia z 2024”, „procedury zatwierdzone przez…”</a:t>
            </a:r>
          </a:p>
        </p:txBody>
      </p:sp>
      <p:sp>
        <p:nvSpPr>
          <p:cNvPr id="14" name="Oval 13"/>
          <p:cNvSpPr/>
          <p:nvPr/>
        </p:nvSpPr>
        <p:spPr>
          <a:xfrm>
            <a:off x="609600" y="3867150"/>
            <a:ext cx="85725" cy="85725"/>
          </a:xfrm>
          <a:prstGeom prst="ellipse">
            <a:avLst/>
          </a:prstGeom>
          <a:solidFill>
            <a:srgbClr val="0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" y="3790950"/>
            <a:ext cx="56769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465050"/>
                </a:solidFill>
                <a:latin typeface="Segoe UI"/>
              </a:rPr>
              <a:t>Automatyczne rozpoznawanie — rodzaj pisma, numer, data, osoba zatwierdzająca</a:t>
            </a:r>
          </a:p>
        </p:txBody>
      </p:sp>
      <p:sp>
        <p:nvSpPr>
          <p:cNvPr id="16" name="Oval 15"/>
          <p:cNvSpPr/>
          <p:nvPr/>
        </p:nvSpPr>
        <p:spPr>
          <a:xfrm>
            <a:off x="609600" y="4591050"/>
            <a:ext cx="85725" cy="85725"/>
          </a:xfrm>
          <a:prstGeom prst="ellipse">
            <a:avLst/>
          </a:prstGeom>
          <a:solidFill>
            <a:srgbClr val="0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200" y="4514850"/>
            <a:ext cx="56769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465050"/>
                </a:solidFill>
                <a:latin typeface="Segoe UI"/>
              </a:rPr>
              <a:t>Instrukcja obsługi wbudowana w aplikację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600" y="5676900"/>
            <a:ext cx="10972800" cy="590550"/>
          </a:xfrm>
          <a:prstGeom prst="roundRect">
            <a:avLst>
              <a:gd name="adj" fmla="val 6000"/>
            </a:avLst>
          </a:prstGeom>
          <a:solidFill>
            <a:srgbClr val="244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9550" tIns="0"/>
          <a:lstStyle/>
          <a:p>
            <a:pPr algn="l">
              <a:lnSpc>
                <a:spcPct val="125000"/>
              </a:lnSpc>
            </a:pPr>
            <a:r>
              <a:rPr sz="1650" b="1">
                <a:solidFill>
                  <a:srgbClr val="FFFFFF"/>
                </a:solidFill>
                <a:latin typeface="Segoe UI"/>
              </a:rPr>
              <a:t>Trzy drogi do dokumentu — pracownik wybiera tę, która jest mu bliższa.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" y="5676900"/>
            <a:ext cx="57150" cy="590550"/>
          </a:xfrm>
          <a:prstGeom prst="rect">
            <a:avLst/>
          </a:prstGeom>
          <a:gradFill rotWithShape="1">
            <a:gsLst>
              <a:gs pos="0">
                <a:srgbClr val="2448C8"/>
              </a:gs>
              <a:gs pos="100000">
                <a:srgbClr val="09AFA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9525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 b="1">
                <a:solidFill>
                  <a:srgbClr val="2448C8"/>
                </a:solidFill>
                <a:latin typeface="Segoe UI"/>
              </a:rPr>
              <a:t>Bezpieczeństwo i prywatność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123950"/>
            <a:ext cx="914400" cy="47625"/>
          </a:xfrm>
          <a:prstGeom prst="rect">
            <a:avLst/>
          </a:prstGeom>
          <a:gradFill rotWithShape="1">
            <a:gsLst>
              <a:gs pos="0">
                <a:srgbClr val="2448C8"/>
              </a:gs>
              <a:gs pos="100000">
                <a:srgbClr val="09AFA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polmedi-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3700" y="419100"/>
            <a:ext cx="1028700" cy="34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5341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950" b="0">
                <a:solidFill>
                  <a:srgbClr val="9AA5A5"/>
                </a:solidFill>
                <a:latin typeface="Segoe UI"/>
              </a:rPr>
              <a:t>EDMund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653415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9AA5A5"/>
                </a:solidFill>
                <a:latin typeface="Segoe U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619250"/>
            <a:ext cx="7620000" cy="1809750"/>
          </a:xfrm>
          <a:prstGeom prst="roundRect">
            <a:avLst>
              <a:gd name="adj" fmla="val 6000"/>
            </a:avLst>
          </a:prstGeom>
          <a:solidFill>
            <a:srgbClr val="244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" y="179070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00" b="1">
                <a:solidFill>
                  <a:srgbClr val="09AFAF"/>
                </a:solidFill>
                <a:latin typeface="Segoe UI"/>
              </a:rPr>
              <a:t>WASZA SERWEROWNIA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" y="2114550"/>
            <a:ext cx="2336800" cy="1123950"/>
          </a:xfrm>
          <a:prstGeom prst="roundRect">
            <a:avLst>
              <a:gd name="adj" fmla="val 6000"/>
            </a:avLst>
          </a:prstGeom>
          <a:solidFill>
            <a:srgbClr val="3A5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2500" y="2305050"/>
            <a:ext cx="2032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50" b="1">
                <a:solidFill>
                  <a:srgbClr val="FFFFFF"/>
                </a:solidFill>
                <a:latin typeface="Segoe UI"/>
              </a:rPr>
              <a:t>Aplikacja</a:t>
            </a:r>
          </a:p>
          <a:p>
            <a:pPr>
              <a:lnSpc>
                <a:spcPct val="130000"/>
              </a:lnSpc>
            </a:pPr>
            <a:r>
              <a:rPr sz="1050" b="0">
                <a:solidFill>
                  <a:srgbClr val="DBE4F7"/>
                </a:solidFill>
                <a:latin typeface="Segoe UI"/>
              </a:rPr>
              <a:t>przeglądarka pracownika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51200" y="2114550"/>
            <a:ext cx="2336800" cy="1123950"/>
          </a:xfrm>
          <a:prstGeom prst="roundRect">
            <a:avLst>
              <a:gd name="adj" fmla="val 6000"/>
            </a:avLst>
          </a:prstGeom>
          <a:solidFill>
            <a:srgbClr val="3A5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3600" y="2305050"/>
            <a:ext cx="2032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50" b="1">
                <a:solidFill>
                  <a:srgbClr val="FFFFFF"/>
                </a:solidFill>
                <a:latin typeface="Segoe UI"/>
              </a:rPr>
              <a:t>Model językowy</a:t>
            </a:r>
          </a:p>
          <a:p>
            <a:pPr>
              <a:lnSpc>
                <a:spcPct val="130000"/>
              </a:lnSpc>
            </a:pPr>
            <a:r>
              <a:rPr sz="1050" b="0">
                <a:solidFill>
                  <a:srgbClr val="DBE4F7"/>
                </a:solidFill>
                <a:latin typeface="Segoe UI"/>
              </a:rPr>
              <a:t>działa na Waszym urządzeniu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02300" y="2114550"/>
            <a:ext cx="2336800" cy="1123950"/>
          </a:xfrm>
          <a:prstGeom prst="roundRect">
            <a:avLst>
              <a:gd name="adj" fmla="val 6000"/>
            </a:avLst>
          </a:prstGeom>
          <a:solidFill>
            <a:srgbClr val="3A5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4700" y="2305050"/>
            <a:ext cx="2032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50" b="1">
                <a:solidFill>
                  <a:srgbClr val="FFFFFF"/>
                </a:solidFill>
                <a:latin typeface="Segoe UI"/>
              </a:rPr>
              <a:t>Dokumenty i indeks</a:t>
            </a:r>
          </a:p>
          <a:p>
            <a:pPr>
              <a:lnSpc>
                <a:spcPct val="130000"/>
              </a:lnSpc>
            </a:pPr>
            <a:r>
              <a:rPr sz="1050" b="0">
                <a:solidFill>
                  <a:srgbClr val="DBE4F7"/>
                </a:solidFill>
                <a:latin typeface="Segoe UI"/>
              </a:rPr>
              <a:t>dysk w serwerowni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24900" y="1847850"/>
            <a:ext cx="0" cy="914400"/>
          </a:xfrm>
          <a:prstGeom prst="rect">
            <a:avLst/>
          </a:prstGeom>
          <a:ln w="38100">
            <a:solidFill>
              <a:srgbClr val="0A9A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876550"/>
            <a:ext cx="9906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A9A9A"/>
                </a:solidFill>
                <a:latin typeface="Segoe UI"/>
              </a:rPr>
              <a:t>brak połączenia z usługami zewnętrznymi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9250" y="1619250"/>
            <a:ext cx="2343150" cy="180975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91650" y="2152650"/>
            <a:ext cx="2038350" cy="1047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2448C8"/>
                </a:solidFill>
                <a:latin typeface="Segoe UI"/>
              </a:rPr>
              <a:t>Internet</a:t>
            </a:r>
          </a:p>
          <a:p>
            <a:pPr algn="ctr">
              <a:lnSpc>
                <a:spcPct val="135000"/>
              </a:lnSpc>
            </a:pPr>
            <a:r>
              <a:rPr sz="1050" b="0">
                <a:solidFill>
                  <a:srgbClr val="465050"/>
                </a:solidFill>
                <a:latin typeface="Segoe UI"/>
              </a:rPr>
              <a:t>nie wychodzi tu żaden dokument, fragment ani pytanie</a:t>
            </a:r>
          </a:p>
        </p:txBody>
      </p:sp>
      <p:sp>
        <p:nvSpPr>
          <p:cNvPr id="19" name="Oval 18"/>
          <p:cNvSpPr/>
          <p:nvPr/>
        </p:nvSpPr>
        <p:spPr>
          <a:xfrm>
            <a:off x="609600" y="3810000"/>
            <a:ext cx="85725" cy="85725"/>
          </a:xfrm>
          <a:prstGeom prst="ellipse">
            <a:avLst/>
          </a:prstGeom>
          <a:solidFill>
            <a:srgbClr val="0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200" y="373380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465050"/>
                </a:solidFill>
                <a:latin typeface="Segoe UI"/>
              </a:rPr>
              <a:t>Dostęp do folderów nadawany rolom — użytkownik widzi tylko swoje, także w czacie</a:t>
            </a:r>
          </a:p>
        </p:txBody>
      </p:sp>
      <p:sp>
        <p:nvSpPr>
          <p:cNvPr id="21" name="Oval 20"/>
          <p:cNvSpPr/>
          <p:nvPr/>
        </p:nvSpPr>
        <p:spPr>
          <a:xfrm>
            <a:off x="609600" y="4248150"/>
            <a:ext cx="85725" cy="85725"/>
          </a:xfrm>
          <a:prstGeom prst="ellipse">
            <a:avLst/>
          </a:prstGeom>
          <a:solidFill>
            <a:srgbClr val="0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200" y="417195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465050"/>
                </a:solidFill>
                <a:latin typeface="Segoe UI"/>
              </a:rPr>
              <a:t>Historia pytań prywatna; administrator widzi statystyki, nie cudze rozmowy</a:t>
            </a:r>
          </a:p>
        </p:txBody>
      </p:sp>
      <p:sp>
        <p:nvSpPr>
          <p:cNvPr id="23" name="Oval 22"/>
          <p:cNvSpPr/>
          <p:nvPr/>
        </p:nvSpPr>
        <p:spPr>
          <a:xfrm>
            <a:off x="609600" y="4686300"/>
            <a:ext cx="85725" cy="85725"/>
          </a:xfrm>
          <a:prstGeom prst="ellipse">
            <a:avLst/>
          </a:prstGeom>
          <a:solidFill>
            <a:srgbClr val="0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200" y="461010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465050"/>
                </a:solidFill>
                <a:latin typeface="Segoe UI"/>
              </a:rPr>
              <a:t>Automatyczne wylogowanie po bezczynności, zmiana hasła za potwierdzeniem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600" y="5676900"/>
            <a:ext cx="10972800" cy="590550"/>
          </a:xfrm>
          <a:prstGeom prst="roundRect">
            <a:avLst>
              <a:gd name="adj" fmla="val 6000"/>
            </a:avLst>
          </a:prstGeom>
          <a:solidFill>
            <a:srgbClr val="244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9550" tIns="0"/>
          <a:lstStyle/>
          <a:p>
            <a:pPr algn="l">
              <a:lnSpc>
                <a:spcPct val="125000"/>
              </a:lnSpc>
            </a:pPr>
            <a:r>
              <a:rPr sz="1650" b="1">
                <a:solidFill>
                  <a:srgbClr val="FFFFFF"/>
                </a:solidFill>
                <a:latin typeface="Segoe UI"/>
              </a:rPr>
              <a:t>Żaden dokument, fragment ani pytanie nie opuszcza Waszej sieci.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" y="5676900"/>
            <a:ext cx="57150" cy="590550"/>
          </a:xfrm>
          <a:prstGeom prst="rect">
            <a:avLst/>
          </a:prstGeom>
          <a:gradFill rotWithShape="1">
            <a:gsLst>
              <a:gs pos="0">
                <a:srgbClr val="2448C8"/>
              </a:gs>
              <a:gs pos="100000">
                <a:srgbClr val="09AFA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9525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 b="1">
                <a:solidFill>
                  <a:srgbClr val="2448C8"/>
                </a:solidFill>
                <a:latin typeface="Segoe UI"/>
              </a:rPr>
              <a:t>Skąd pewność, że odpowiedź jest prawdziwa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123950"/>
            <a:ext cx="914400" cy="47625"/>
          </a:xfrm>
          <a:prstGeom prst="rect">
            <a:avLst/>
          </a:prstGeom>
          <a:gradFill rotWithShape="1">
            <a:gsLst>
              <a:gs pos="0">
                <a:srgbClr val="2448C8"/>
              </a:gs>
              <a:gs pos="100000">
                <a:srgbClr val="09AFA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polmedi-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3700" y="419100"/>
            <a:ext cx="1028700" cy="34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5341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950" b="0">
                <a:solidFill>
                  <a:srgbClr val="9AA5A5"/>
                </a:solidFill>
                <a:latin typeface="Segoe UI"/>
              </a:rPr>
              <a:t>EDMund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653415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9AA5A5"/>
                </a:solidFill>
                <a:latin typeface="Segoe U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619250"/>
            <a:ext cx="2557462" cy="123825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2000" y="1752600"/>
            <a:ext cx="247650" cy="247650"/>
          </a:xfrm>
          <a:prstGeom prst="ellipse">
            <a:avLst/>
          </a:prstGeom>
          <a:solidFill>
            <a:srgbClr val="0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095500"/>
            <a:ext cx="2252662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2448C8"/>
                </a:solidFill>
                <a:latin typeface="Segoe UI"/>
              </a:rPr>
              <a:t>Pytanie</a:t>
            </a:r>
          </a:p>
          <a:p>
            <a:pPr>
              <a:lnSpc>
                <a:spcPct val="130000"/>
              </a:lnSpc>
            </a:pPr>
            <a:r>
              <a:rPr sz="1050" b="0">
                <a:solidFill>
                  <a:srgbClr val="7B8585"/>
                </a:solidFill>
                <a:latin typeface="Segoe UI"/>
              </a:rPr>
              <a:t>zwykłym językiem, np. „jak rozliczyć delegację?”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5162" y="2114550"/>
            <a:ext cx="190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0A9A9A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4712" y="1619250"/>
            <a:ext cx="2557462" cy="123825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67112" y="1752600"/>
            <a:ext cx="247650" cy="247650"/>
          </a:xfrm>
          <a:prstGeom prst="ellipse">
            <a:avLst/>
          </a:prstGeom>
          <a:solidFill>
            <a:srgbClr val="0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7112" y="2095500"/>
            <a:ext cx="2252662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2448C8"/>
                </a:solidFill>
                <a:latin typeface="Segoe UI"/>
              </a:rPr>
              <a:t>Wyszukanie</a:t>
            </a:r>
          </a:p>
          <a:p>
            <a:pPr>
              <a:lnSpc>
                <a:spcPct val="130000"/>
              </a:lnSpc>
            </a:pPr>
            <a:r>
              <a:rPr sz="1050" b="0">
                <a:solidFill>
                  <a:srgbClr val="7B8585"/>
                </a:solidFill>
                <a:latin typeface="Segoe UI"/>
              </a:rPr>
              <a:t>system znajduje fragmenty w Waszych plikach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0275" y="2114550"/>
            <a:ext cx="190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0A9A9A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9825" y="1619250"/>
            <a:ext cx="2557462" cy="123825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72225" y="1752600"/>
            <a:ext cx="247650" cy="247650"/>
          </a:xfrm>
          <a:prstGeom prst="ellipse">
            <a:avLst/>
          </a:prstGeom>
          <a:solidFill>
            <a:srgbClr val="0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2225" y="2095500"/>
            <a:ext cx="2252662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2448C8"/>
                </a:solidFill>
                <a:latin typeface="Segoe UI"/>
              </a:rPr>
              <a:t>Odpowiedź</a:t>
            </a:r>
          </a:p>
          <a:p>
            <a:pPr>
              <a:lnSpc>
                <a:spcPct val="130000"/>
              </a:lnSpc>
            </a:pPr>
            <a:r>
              <a:rPr sz="1050" b="0">
                <a:solidFill>
                  <a:srgbClr val="7B8585"/>
                </a:solidFill>
                <a:latin typeface="Segoe UI"/>
              </a:rPr>
              <a:t>zbudowana wyłącznie z tych fragmentów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15387" y="2114550"/>
            <a:ext cx="190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0A9A9A"/>
                </a:solidFill>
                <a:latin typeface="Segoe U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24937" y="1619250"/>
            <a:ext cx="2557462" cy="123825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77337" y="1752600"/>
            <a:ext cx="247650" cy="247650"/>
          </a:xfrm>
          <a:prstGeom prst="ellipse">
            <a:avLst/>
          </a:prstGeom>
          <a:solidFill>
            <a:srgbClr val="0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7337" y="2095500"/>
            <a:ext cx="2252662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2448C8"/>
                </a:solidFill>
                <a:latin typeface="Segoe UI"/>
              </a:rPr>
              <a:t>Dowód</a:t>
            </a:r>
          </a:p>
          <a:p>
            <a:pPr>
              <a:lnSpc>
                <a:spcPct val="130000"/>
              </a:lnSpc>
            </a:pPr>
            <a:r>
              <a:rPr sz="1050" b="0">
                <a:solidFill>
                  <a:srgbClr val="7B8585"/>
                </a:solidFill>
                <a:latin typeface="Segoe UI"/>
              </a:rPr>
              <a:t>numer przy zdaniu prowadzi do dokumentu i strony</a:t>
            </a:r>
          </a:p>
        </p:txBody>
      </p:sp>
      <p:sp>
        <p:nvSpPr>
          <p:cNvPr id="22" name="Oval 21"/>
          <p:cNvSpPr/>
          <p:nvPr/>
        </p:nvSpPr>
        <p:spPr>
          <a:xfrm>
            <a:off x="609600" y="3238500"/>
            <a:ext cx="85725" cy="85725"/>
          </a:xfrm>
          <a:prstGeom prst="ellipse">
            <a:avLst/>
          </a:prstGeom>
          <a:solidFill>
            <a:srgbClr val="0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200" y="316230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465050"/>
                </a:solidFill>
                <a:latin typeface="Segoe UI"/>
              </a:rPr>
              <a:t>Odpowiedź powstaje wyłącznie z fragmentów Waszych plików</a:t>
            </a:r>
          </a:p>
        </p:txBody>
      </p:sp>
      <p:sp>
        <p:nvSpPr>
          <p:cNvPr id="24" name="Oval 23"/>
          <p:cNvSpPr/>
          <p:nvPr/>
        </p:nvSpPr>
        <p:spPr>
          <a:xfrm>
            <a:off x="609600" y="3676650"/>
            <a:ext cx="85725" cy="85725"/>
          </a:xfrm>
          <a:prstGeom prst="ellipse">
            <a:avLst/>
          </a:prstGeom>
          <a:solidFill>
            <a:srgbClr val="0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200" y="360045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465050"/>
                </a:solidFill>
                <a:latin typeface="Segoe UI"/>
              </a:rPr>
              <a:t>Brak dopasowania = jasny komunikat zamiast wymyślonej treści</a:t>
            </a:r>
          </a:p>
        </p:txBody>
      </p:sp>
      <p:sp>
        <p:nvSpPr>
          <p:cNvPr id="26" name="Oval 25"/>
          <p:cNvSpPr/>
          <p:nvPr/>
        </p:nvSpPr>
        <p:spPr>
          <a:xfrm>
            <a:off x="609600" y="4114800"/>
            <a:ext cx="85725" cy="85725"/>
          </a:xfrm>
          <a:prstGeom prst="ellipse">
            <a:avLst/>
          </a:prstGeom>
          <a:solidFill>
            <a:srgbClr val="0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200" y="403860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465050"/>
                </a:solidFill>
                <a:latin typeface="Segoe UI"/>
              </a:rPr>
              <a:t>Widać też, ile dokumentów sprawdzono i z których nie skorzystano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9600" y="5676900"/>
            <a:ext cx="10972800" cy="590550"/>
          </a:xfrm>
          <a:prstGeom prst="roundRect">
            <a:avLst>
              <a:gd name="adj" fmla="val 6000"/>
            </a:avLst>
          </a:prstGeom>
          <a:solidFill>
            <a:srgbClr val="244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9550" tIns="0"/>
          <a:lstStyle/>
          <a:p>
            <a:pPr algn="l">
              <a:lnSpc>
                <a:spcPct val="125000"/>
              </a:lnSpc>
            </a:pPr>
            <a:r>
              <a:rPr sz="1650" b="1">
                <a:solidFill>
                  <a:srgbClr val="FFFFFF"/>
                </a:solidFill>
                <a:latin typeface="Segoe UI"/>
              </a:rPr>
              <a:t>Nie trzeba wierzyć systemowi — każde zdanie sprawdzicie w źródle.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600" y="5676900"/>
            <a:ext cx="57150" cy="590550"/>
          </a:xfrm>
          <a:prstGeom prst="rect">
            <a:avLst/>
          </a:prstGeom>
          <a:gradFill rotWithShape="1">
            <a:gsLst>
              <a:gs pos="0">
                <a:srgbClr val="2448C8"/>
              </a:gs>
              <a:gs pos="100000">
                <a:srgbClr val="09AFA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9525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 b="1">
                <a:solidFill>
                  <a:srgbClr val="2448C8"/>
                </a:solidFill>
                <a:latin typeface="Segoe UI"/>
              </a:rPr>
              <a:t>Pojemność i szybkość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123950"/>
            <a:ext cx="914400" cy="47625"/>
          </a:xfrm>
          <a:prstGeom prst="rect">
            <a:avLst/>
          </a:prstGeom>
          <a:gradFill rotWithShape="1">
            <a:gsLst>
              <a:gs pos="0">
                <a:srgbClr val="2448C8"/>
              </a:gs>
              <a:gs pos="100000">
                <a:srgbClr val="09AFA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polmedi-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3700" y="419100"/>
            <a:ext cx="1028700" cy="34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5341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950" b="0">
                <a:solidFill>
                  <a:srgbClr val="9AA5A5"/>
                </a:solidFill>
                <a:latin typeface="Segoe UI"/>
              </a:rPr>
              <a:t>EDMund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653415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9AA5A5"/>
                </a:solidFill>
                <a:latin typeface="Segoe U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619250"/>
            <a:ext cx="3543300" cy="123825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1828800"/>
            <a:ext cx="30861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400" b="1">
                <a:solidFill>
                  <a:srgbClr val="2448C8"/>
                </a:solidFill>
                <a:latin typeface="Segoe UI"/>
              </a:rPr>
              <a:t>128 GB</a:t>
            </a:r>
          </a:p>
          <a:p>
            <a:pPr>
              <a:lnSpc>
                <a:spcPct val="130000"/>
              </a:lnSpc>
            </a:pPr>
            <a:r>
              <a:rPr sz="1350" b="0">
                <a:solidFill>
                  <a:srgbClr val="465050"/>
                </a:solidFill>
                <a:latin typeface="Segoe UI"/>
              </a:rPr>
              <a:t>pamięci dla modelu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7B8585"/>
                </a:solidFill>
                <a:latin typeface="Segoe UI"/>
              </a:rPr>
              <a:t>jedno urządzenie obsługuje całą firmę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4350" y="1619250"/>
            <a:ext cx="3543300" cy="123825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2950" y="1828800"/>
            <a:ext cx="30861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400" b="1">
                <a:solidFill>
                  <a:srgbClr val="2448C8"/>
                </a:solidFill>
                <a:latin typeface="Segoe UI"/>
              </a:rPr>
              <a:t>4 TB</a:t>
            </a:r>
          </a:p>
          <a:p>
            <a:pPr>
              <a:lnSpc>
                <a:spcPct val="130000"/>
              </a:lnSpc>
            </a:pPr>
            <a:r>
              <a:rPr sz="1350" b="0">
                <a:solidFill>
                  <a:srgbClr val="465050"/>
                </a:solidFill>
                <a:latin typeface="Segoe UI"/>
              </a:rPr>
              <a:t>na dokumenty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7B8585"/>
                </a:solidFill>
                <a:latin typeface="Segoe UI"/>
              </a:rPr>
              <a:t>setki tysięcy plików biurowych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9100" y="1619250"/>
            <a:ext cx="3543300" cy="123825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7700" y="1828800"/>
            <a:ext cx="30861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400" b="1">
                <a:solidFill>
                  <a:srgbClr val="2448C8"/>
                </a:solidFill>
                <a:latin typeface="Segoe UI"/>
              </a:rPr>
              <a:t>~1 s</a:t>
            </a:r>
          </a:p>
          <a:p>
            <a:pPr>
              <a:lnSpc>
                <a:spcPct val="130000"/>
              </a:lnSpc>
            </a:pPr>
            <a:r>
              <a:rPr sz="1350" b="0">
                <a:solidFill>
                  <a:srgbClr val="465050"/>
                </a:solidFill>
                <a:latin typeface="Segoe UI"/>
              </a:rPr>
              <a:t>do pierwszego słowa odpowiedzi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7B8585"/>
                </a:solidFill>
                <a:latin typeface="Segoe UI"/>
              </a:rPr>
              <a:t>cała odpowiedź gotowa w ok. 15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067050"/>
            <a:ext cx="3810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50" b="1">
                <a:solidFill>
                  <a:srgbClr val="2448C8"/>
                </a:solidFill>
                <a:latin typeface="Segoe UI"/>
              </a:rPr>
              <a:t>Ile to trwa w praktyce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33375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50" b="0">
                <a:solidFill>
                  <a:srgbClr val="465050"/>
                </a:solidFill>
                <a:latin typeface="Segoe UI"/>
              </a:rPr>
              <a:t>Czas do rozpoczęcia odpowiedzi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2350" y="3352800"/>
            <a:ext cx="98425" cy="142875"/>
          </a:xfrm>
          <a:prstGeom prst="rect">
            <a:avLst/>
          </a:prstGeom>
          <a:solidFill>
            <a:srgbClr val="0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333375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50" b="1">
                <a:solidFill>
                  <a:srgbClr val="465050"/>
                </a:solidFill>
                <a:latin typeface="Segoe UI"/>
              </a:rPr>
              <a:t>ok. 1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361950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50" b="0">
                <a:solidFill>
                  <a:srgbClr val="465050"/>
                </a:solidFill>
                <a:latin typeface="Segoe UI"/>
              </a:rPr>
              <a:t>Czas utworzenia całej odpowiedzi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2350" y="3638550"/>
            <a:ext cx="1476375" cy="142875"/>
          </a:xfrm>
          <a:prstGeom prst="rect">
            <a:avLst/>
          </a:prstGeom>
          <a:solidFill>
            <a:srgbClr val="0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36195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50" b="1">
                <a:solidFill>
                  <a:srgbClr val="465050"/>
                </a:solidFill>
                <a:latin typeface="Segoe UI"/>
              </a:rPr>
              <a:t>ok. 15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390525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50" b="0">
                <a:solidFill>
                  <a:srgbClr val="465050"/>
                </a:solidFill>
                <a:latin typeface="Segoe UI"/>
              </a:rPr>
              <a:t>Przygotowanie dokumentu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2350" y="3924300"/>
            <a:ext cx="5905500" cy="142875"/>
          </a:xfrm>
          <a:prstGeom prst="rect">
            <a:avLst/>
          </a:prstGeom>
          <a:solidFill>
            <a:srgbClr val="244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390525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50" b="1">
                <a:solidFill>
                  <a:srgbClr val="465050"/>
                </a:solidFill>
                <a:latin typeface="Segoe UI"/>
              </a:rPr>
              <a:t>średnio ok. 60 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4248150"/>
            <a:ext cx="10477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950" b="0">
                <a:solidFill>
                  <a:srgbClr val="7B8585"/>
                </a:solidFill>
                <a:latin typeface="Segoe UI"/>
              </a:rPr>
              <a:t>Długość słupka odpowiada czasowi. Pomiary z działającego wdrożenia; przygotowanie dokumentu odbywa się raz, w tle, przy wgraniu pliku.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600" y="5676900"/>
            <a:ext cx="10972800" cy="590550"/>
          </a:xfrm>
          <a:prstGeom prst="roundRect">
            <a:avLst>
              <a:gd name="adj" fmla="val 6000"/>
            </a:avLst>
          </a:prstGeom>
          <a:solidFill>
            <a:srgbClr val="244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9550" tIns="0"/>
          <a:lstStyle/>
          <a:p>
            <a:pPr algn="l">
              <a:lnSpc>
                <a:spcPct val="125000"/>
              </a:lnSpc>
            </a:pPr>
            <a:r>
              <a:rPr sz="1650" b="1">
                <a:solidFill>
                  <a:srgbClr val="FFFFFF"/>
                </a:solidFill>
                <a:latin typeface="Segoe UI"/>
              </a:rPr>
              <a:t>Baza rośnie, czas odpowiedzi stoi w miejscu.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5676900"/>
            <a:ext cx="57150" cy="590550"/>
          </a:xfrm>
          <a:prstGeom prst="rect">
            <a:avLst/>
          </a:prstGeom>
          <a:gradFill rotWithShape="1">
            <a:gsLst>
              <a:gs pos="0">
                <a:srgbClr val="2448C8"/>
              </a:gs>
              <a:gs pos="100000">
                <a:srgbClr val="09AFA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9525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 b="1">
                <a:solidFill>
                  <a:srgbClr val="2448C8"/>
                </a:solidFill>
                <a:latin typeface="Segoe UI"/>
              </a:rPr>
              <a:t>Łatwość obsługi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123950"/>
            <a:ext cx="914400" cy="47625"/>
          </a:xfrm>
          <a:prstGeom prst="rect">
            <a:avLst/>
          </a:prstGeom>
          <a:gradFill rotWithShape="1">
            <a:gsLst>
              <a:gs pos="0">
                <a:srgbClr val="2448C8"/>
              </a:gs>
              <a:gs pos="100000">
                <a:srgbClr val="09AFA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polmedi-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3700" y="419100"/>
            <a:ext cx="1028700" cy="34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5341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950" b="0">
                <a:solidFill>
                  <a:srgbClr val="9AA5A5"/>
                </a:solidFill>
                <a:latin typeface="Segoe UI"/>
              </a:rPr>
              <a:t>EDMund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653415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9AA5A5"/>
                </a:solidFill>
                <a:latin typeface="Segoe UI"/>
              </a:rPr>
              <a:t>7</a:t>
            </a:r>
          </a:p>
        </p:txBody>
      </p:sp>
      <p:pic>
        <p:nvPicPr>
          <p:cNvPr id="7" name="Picture 6" descr="makieta-cz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714500"/>
            <a:ext cx="4914900" cy="3101677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609600" y="1695450"/>
            <a:ext cx="85725" cy="85725"/>
          </a:xfrm>
          <a:prstGeom prst="ellipse">
            <a:avLst/>
          </a:prstGeom>
          <a:solidFill>
            <a:srgbClr val="0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1619250"/>
            <a:ext cx="56769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465050"/>
                </a:solidFill>
                <a:latin typeface="Segoe UI"/>
              </a:rPr>
              <a:t>Przeglądarka — nic do instalowania na komputerach pracowników</a:t>
            </a:r>
          </a:p>
        </p:txBody>
      </p:sp>
      <p:sp>
        <p:nvSpPr>
          <p:cNvPr id="10" name="Oval 9"/>
          <p:cNvSpPr/>
          <p:nvPr/>
        </p:nvSpPr>
        <p:spPr>
          <a:xfrm>
            <a:off x="609600" y="2419350"/>
            <a:ext cx="85725" cy="85725"/>
          </a:xfrm>
          <a:prstGeom prst="ellipse">
            <a:avLst/>
          </a:prstGeom>
          <a:solidFill>
            <a:srgbClr val="0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2343150"/>
            <a:ext cx="56769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465050"/>
                </a:solidFill>
                <a:latin typeface="Segoe UI"/>
              </a:rPr>
              <a:t>Trzy ekrany: Dashboard, Pliki, Baza wiedzy. Administracja tylko dla administratora</a:t>
            </a:r>
          </a:p>
        </p:txBody>
      </p:sp>
      <p:sp>
        <p:nvSpPr>
          <p:cNvPr id="12" name="Oval 11"/>
          <p:cNvSpPr/>
          <p:nvPr/>
        </p:nvSpPr>
        <p:spPr>
          <a:xfrm>
            <a:off x="609600" y="3143250"/>
            <a:ext cx="85725" cy="85725"/>
          </a:xfrm>
          <a:prstGeom prst="ellipse">
            <a:avLst/>
          </a:prstGeom>
          <a:solidFill>
            <a:srgbClr val="0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" y="3067050"/>
            <a:ext cx="56769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465050"/>
                </a:solidFill>
                <a:latin typeface="Segoe UI"/>
              </a:rPr>
              <a:t>Pytanie potoczne działa: „delegacja” znajdzie „podróż służbową”, „L4” — „zwolnienie lekarskie”</a:t>
            </a:r>
          </a:p>
        </p:txBody>
      </p:sp>
      <p:sp>
        <p:nvSpPr>
          <p:cNvPr id="14" name="Oval 13"/>
          <p:cNvSpPr/>
          <p:nvPr/>
        </p:nvSpPr>
        <p:spPr>
          <a:xfrm>
            <a:off x="609600" y="3867150"/>
            <a:ext cx="85725" cy="85725"/>
          </a:xfrm>
          <a:prstGeom prst="ellipse">
            <a:avLst/>
          </a:prstGeom>
          <a:solidFill>
            <a:srgbClr val="0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" y="3790950"/>
            <a:ext cx="56769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465050"/>
                </a:solidFill>
                <a:latin typeface="Segoe UI"/>
              </a:rPr>
              <a:t>Wystarczy sama nazwa dokumentu, żeby dostać jego opis i odnośnik</a:t>
            </a:r>
          </a:p>
        </p:txBody>
      </p:sp>
      <p:sp>
        <p:nvSpPr>
          <p:cNvPr id="16" name="Oval 15"/>
          <p:cNvSpPr/>
          <p:nvPr/>
        </p:nvSpPr>
        <p:spPr>
          <a:xfrm>
            <a:off x="609600" y="4591050"/>
            <a:ext cx="85725" cy="85725"/>
          </a:xfrm>
          <a:prstGeom prst="ellipse">
            <a:avLst/>
          </a:prstGeom>
          <a:solidFill>
            <a:srgbClr val="0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200" y="4514850"/>
            <a:ext cx="56769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465050"/>
                </a:solidFill>
                <a:latin typeface="Segoe UI"/>
              </a:rPr>
              <a:t>Szkolenie pracownika: 20 minut. Instrukcja w aplikacji, pod przyciskiem Pomoc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600" y="5676900"/>
            <a:ext cx="10972800" cy="590550"/>
          </a:xfrm>
          <a:prstGeom prst="roundRect">
            <a:avLst>
              <a:gd name="adj" fmla="val 6000"/>
            </a:avLst>
          </a:prstGeom>
          <a:solidFill>
            <a:srgbClr val="244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9550" tIns="0"/>
          <a:lstStyle/>
          <a:p>
            <a:pPr algn="l">
              <a:lnSpc>
                <a:spcPct val="125000"/>
              </a:lnSpc>
            </a:pPr>
            <a:r>
              <a:rPr sz="1650" b="1">
                <a:solidFill>
                  <a:srgbClr val="FFFFFF"/>
                </a:solidFill>
                <a:latin typeface="Segoe UI"/>
              </a:rPr>
              <a:t>Kto umie korzystać z wyszukiwarki internetowej, umie korzystać z tego.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" y="5676900"/>
            <a:ext cx="57150" cy="590550"/>
          </a:xfrm>
          <a:prstGeom prst="rect">
            <a:avLst/>
          </a:prstGeom>
          <a:gradFill rotWithShape="1">
            <a:gsLst>
              <a:gs pos="0">
                <a:srgbClr val="2448C8"/>
              </a:gs>
              <a:gs pos="100000">
                <a:srgbClr val="09AFA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9525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 b="1">
                <a:solidFill>
                  <a:srgbClr val="2448C8"/>
                </a:solidFill>
                <a:latin typeface="Segoe UI"/>
              </a:rPr>
              <a:t>Gdzie to pracuje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123950"/>
            <a:ext cx="914400" cy="47625"/>
          </a:xfrm>
          <a:prstGeom prst="rect">
            <a:avLst/>
          </a:prstGeom>
          <a:gradFill rotWithShape="1">
            <a:gsLst>
              <a:gs pos="0">
                <a:srgbClr val="2448C8"/>
              </a:gs>
              <a:gs pos="100000">
                <a:srgbClr val="09AFA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polmedi-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3700" y="419100"/>
            <a:ext cx="1028700" cy="34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5341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950" b="0">
                <a:solidFill>
                  <a:srgbClr val="9AA5A5"/>
                </a:solidFill>
                <a:latin typeface="Segoe UI"/>
              </a:rPr>
              <a:t>EDMund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653415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9AA5A5"/>
                </a:solidFill>
                <a:latin typeface="Segoe U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619250"/>
            <a:ext cx="3568700" cy="89535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" y="1771650"/>
            <a:ext cx="31877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1">
                <a:solidFill>
                  <a:srgbClr val="2448C8"/>
                </a:solidFill>
                <a:latin typeface="Segoe UI"/>
              </a:rPr>
              <a:t>Kadry i płace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7B8585"/>
                </a:solidFill>
                <a:latin typeface="Segoe UI"/>
              </a:rPr>
              <a:t>regulaminy, wnioski, świadczenia pracownicze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1650" y="1619250"/>
            <a:ext cx="3568700" cy="89535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2150" y="1771650"/>
            <a:ext cx="31877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1">
                <a:solidFill>
                  <a:srgbClr val="2448C8"/>
                </a:solidFill>
                <a:latin typeface="Segoe UI"/>
              </a:rPr>
              <a:t>Jakość i audyty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7B8585"/>
                </a:solidFill>
                <a:latin typeface="Segoe UI"/>
              </a:rPr>
              <a:t>procedury, instrukcje, wersje obowiązujące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3700" y="1619250"/>
            <a:ext cx="3568700" cy="89535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4200" y="1771650"/>
            <a:ext cx="31877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1">
                <a:solidFill>
                  <a:srgbClr val="2448C8"/>
                </a:solidFill>
                <a:latin typeface="Segoe UI"/>
              </a:rPr>
              <a:t>Zespoły operacyjne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7B8585"/>
                </a:solidFill>
                <a:latin typeface="Segoe UI"/>
              </a:rPr>
              <a:t>instrukcje stanowiskowe i procedury wewnętrzne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" y="2628900"/>
            <a:ext cx="3568700" cy="89535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" y="2781300"/>
            <a:ext cx="31877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1">
                <a:solidFill>
                  <a:srgbClr val="2448C8"/>
                </a:solidFill>
                <a:latin typeface="Segoe UI"/>
              </a:rPr>
              <a:t>Administracja i zakupy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7B8585"/>
                </a:solidFill>
                <a:latin typeface="Segoe UI"/>
              </a:rPr>
              <a:t>umowy, zarządzenia, dokumentacja przetargowa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1650" y="2628900"/>
            <a:ext cx="3568700" cy="89535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2150" y="2781300"/>
            <a:ext cx="31877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1">
                <a:solidFill>
                  <a:srgbClr val="2448C8"/>
                </a:solidFill>
                <a:latin typeface="Segoe UI"/>
              </a:rPr>
              <a:t>BHP · RODO · IT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7B8585"/>
                </a:solidFill>
                <a:latin typeface="Segoe UI"/>
              </a:rPr>
              <a:t>polityki i instrukcje wewnętrzne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700" y="2628900"/>
            <a:ext cx="3568700" cy="89535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4200" y="2781300"/>
            <a:ext cx="31877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1">
                <a:solidFill>
                  <a:srgbClr val="2448C8"/>
                </a:solidFill>
                <a:latin typeface="Segoe UI"/>
              </a:rPr>
              <a:t>Branże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7B8585"/>
                </a:solidFill>
                <a:latin typeface="Segoe UI"/>
              </a:rPr>
              <a:t>ochrona zdrowia, uczelnie, urzędy, kancelarie, produkcja</a:t>
            </a:r>
          </a:p>
        </p:txBody>
      </p:sp>
      <p:sp>
        <p:nvSpPr>
          <p:cNvPr id="19" name="Oval 18"/>
          <p:cNvSpPr/>
          <p:nvPr/>
        </p:nvSpPr>
        <p:spPr>
          <a:xfrm>
            <a:off x="609600" y="3829050"/>
            <a:ext cx="85725" cy="85725"/>
          </a:xfrm>
          <a:prstGeom prst="ellipse">
            <a:avLst/>
          </a:prstGeom>
          <a:solidFill>
            <a:srgbClr val="0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200" y="375285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465050"/>
                </a:solidFill>
                <a:latin typeface="Segoe UI"/>
              </a:rPr>
              <a:t>Zaczynamy zwykle od kadr — tam pytania powtarzają się najczęściej, efekt widać w pierwszym tygodniu</a:t>
            </a:r>
          </a:p>
        </p:txBody>
      </p:sp>
      <p:sp>
        <p:nvSpPr>
          <p:cNvPr id="21" name="Oval 20"/>
          <p:cNvSpPr/>
          <p:nvPr/>
        </p:nvSpPr>
        <p:spPr>
          <a:xfrm>
            <a:off x="609600" y="4267200"/>
            <a:ext cx="85725" cy="85725"/>
          </a:xfrm>
          <a:prstGeom prst="ellipse">
            <a:avLst/>
          </a:prstGeom>
          <a:solidFill>
            <a:srgbClr val="0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200" y="419100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465050"/>
                </a:solidFill>
                <a:latin typeface="Segoe UI"/>
              </a:rPr>
              <a:t>Rozszerzenie na kolejny dział to wgranie dokumentów i nadanie uprawnień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600" y="5676900"/>
            <a:ext cx="10972800" cy="590550"/>
          </a:xfrm>
          <a:prstGeom prst="roundRect">
            <a:avLst>
              <a:gd name="adj" fmla="val 6000"/>
            </a:avLst>
          </a:prstGeom>
          <a:solidFill>
            <a:srgbClr val="244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9550" tIns="0"/>
          <a:lstStyle/>
          <a:p>
            <a:pPr algn="l">
              <a:lnSpc>
                <a:spcPct val="125000"/>
              </a:lnSpc>
            </a:pPr>
            <a:r>
              <a:rPr sz="1650" b="1">
                <a:solidFill>
                  <a:srgbClr val="FFFFFF"/>
                </a:solidFill>
                <a:latin typeface="Segoe UI"/>
              </a:rPr>
              <a:t>Kolejny dział to wgranie dokumentów, a nie nowe wdrożenie.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" y="5676900"/>
            <a:ext cx="57150" cy="590550"/>
          </a:xfrm>
          <a:prstGeom prst="rect">
            <a:avLst/>
          </a:prstGeom>
          <a:gradFill rotWithShape="1">
            <a:gsLst>
              <a:gs pos="0">
                <a:srgbClr val="2448C8"/>
              </a:gs>
              <a:gs pos="100000">
                <a:srgbClr val="09AFA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9525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 b="1">
                <a:solidFill>
                  <a:srgbClr val="2448C8"/>
                </a:solidFill>
                <a:latin typeface="Segoe UI"/>
              </a:rPr>
              <a:t>Nasza rola: wdrożenie i wsparcie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123950"/>
            <a:ext cx="914400" cy="47625"/>
          </a:xfrm>
          <a:prstGeom prst="rect">
            <a:avLst/>
          </a:prstGeom>
          <a:gradFill rotWithShape="1">
            <a:gsLst>
              <a:gs pos="0">
                <a:srgbClr val="2448C8"/>
              </a:gs>
              <a:gs pos="100000">
                <a:srgbClr val="09AFA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polmedi-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3700" y="419100"/>
            <a:ext cx="1028700" cy="34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5341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950" b="0">
                <a:solidFill>
                  <a:srgbClr val="9AA5A5"/>
                </a:solidFill>
                <a:latin typeface="Segoe UI"/>
              </a:rPr>
              <a:t>EDMund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653415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9AA5A5"/>
                </a:solidFill>
                <a:latin typeface="Segoe UI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619250"/>
            <a:ext cx="28575" cy="1143000"/>
          </a:xfrm>
          <a:prstGeom prst="rect">
            <a:avLst/>
          </a:prstGeom>
          <a:solidFill>
            <a:srgbClr val="09A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52450" y="1657350"/>
            <a:ext cx="142875" cy="142875"/>
          </a:xfrm>
          <a:prstGeom prst="ellipse">
            <a:avLst/>
          </a:prstGeom>
          <a:solidFill>
            <a:srgbClr val="0A9A9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1638300"/>
            <a:ext cx="33401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000" b="1">
                <a:solidFill>
                  <a:srgbClr val="0A9A9A"/>
                </a:solidFill>
                <a:latin typeface="Segoe UI"/>
              </a:rPr>
              <a:t>TYDZIEŃ 1</a:t>
            </a:r>
          </a:p>
          <a:p>
            <a:pPr>
              <a:lnSpc>
                <a:spcPct val="125000"/>
              </a:lnSpc>
            </a:pPr>
            <a:r>
              <a:rPr sz="1500" b="1">
                <a:solidFill>
                  <a:srgbClr val="2448C8"/>
                </a:solidFill>
                <a:latin typeface="Segoe UI"/>
              </a:rPr>
              <a:t>Instalacja i uruchomienie</a:t>
            </a:r>
          </a:p>
          <a:p>
            <a:pPr>
              <a:lnSpc>
                <a:spcPct val="135000"/>
              </a:lnSpc>
            </a:pPr>
            <a:r>
              <a:rPr sz="1150" b="0">
                <a:solidFill>
                  <a:srgbClr val="7B8585"/>
                </a:solidFill>
                <a:latin typeface="Segoe UI"/>
              </a:rPr>
              <a:t>urządzenie w serwerowni, konta, uprawnienia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1650" y="1619250"/>
            <a:ext cx="28575" cy="1143000"/>
          </a:xfrm>
          <a:prstGeom prst="rect">
            <a:avLst/>
          </a:prstGeom>
          <a:solidFill>
            <a:srgbClr val="09A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54500" y="1657350"/>
            <a:ext cx="142875" cy="142875"/>
          </a:xfrm>
          <a:prstGeom prst="ellipse">
            <a:avLst/>
          </a:prstGeom>
          <a:solidFill>
            <a:srgbClr val="0A9A9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4050" y="1638300"/>
            <a:ext cx="33401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000" b="1">
                <a:solidFill>
                  <a:srgbClr val="0A9A9A"/>
                </a:solidFill>
                <a:latin typeface="Segoe UI"/>
              </a:rPr>
              <a:t>TYDZIEŃ 2</a:t>
            </a:r>
          </a:p>
          <a:p>
            <a:pPr>
              <a:lnSpc>
                <a:spcPct val="125000"/>
              </a:lnSpc>
            </a:pPr>
            <a:r>
              <a:rPr sz="1500" b="1">
                <a:solidFill>
                  <a:srgbClr val="2448C8"/>
                </a:solidFill>
                <a:latin typeface="Segoe UI"/>
              </a:rPr>
              <a:t>Wasze dokumenty i wzorce</a:t>
            </a:r>
          </a:p>
          <a:p>
            <a:pPr>
              <a:lnSpc>
                <a:spcPct val="135000"/>
              </a:lnSpc>
            </a:pPr>
            <a:r>
              <a:rPr sz="1150" b="0">
                <a:solidFill>
                  <a:srgbClr val="7B8585"/>
                </a:solidFill>
                <a:latin typeface="Segoe UI"/>
              </a:rPr>
              <a:t>wgrywamy pierwszą partię, układamy schematy pism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3700" y="1619250"/>
            <a:ext cx="28575" cy="1143000"/>
          </a:xfrm>
          <a:prstGeom prst="rect">
            <a:avLst/>
          </a:prstGeom>
          <a:solidFill>
            <a:srgbClr val="09A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56550" y="1657350"/>
            <a:ext cx="142875" cy="142875"/>
          </a:xfrm>
          <a:prstGeom prst="ellipse">
            <a:avLst/>
          </a:prstGeom>
          <a:solidFill>
            <a:srgbClr val="0A9A9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6100" y="1638300"/>
            <a:ext cx="33401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000" b="1">
                <a:solidFill>
                  <a:srgbClr val="0A9A9A"/>
                </a:solidFill>
                <a:latin typeface="Segoe UI"/>
              </a:rPr>
              <a:t>TYDZIEŃ 3</a:t>
            </a:r>
          </a:p>
          <a:p>
            <a:pPr>
              <a:lnSpc>
                <a:spcPct val="125000"/>
              </a:lnSpc>
            </a:pPr>
            <a:r>
              <a:rPr sz="1500" b="1">
                <a:solidFill>
                  <a:srgbClr val="2448C8"/>
                </a:solidFill>
                <a:latin typeface="Segoe UI"/>
              </a:rPr>
              <a:t>Szkolenia i start</a:t>
            </a:r>
          </a:p>
          <a:p>
            <a:pPr>
              <a:lnSpc>
                <a:spcPct val="135000"/>
              </a:lnSpc>
            </a:pPr>
            <a:r>
              <a:rPr sz="1150" b="0">
                <a:solidFill>
                  <a:srgbClr val="7B8585"/>
                </a:solidFill>
                <a:latin typeface="Segoe UI"/>
              </a:rPr>
              <a:t>20 min dla użytkownika, 2 h dla administratora</a:t>
            </a:r>
          </a:p>
        </p:txBody>
      </p:sp>
      <p:sp>
        <p:nvSpPr>
          <p:cNvPr id="16" name="Oval 15"/>
          <p:cNvSpPr/>
          <p:nvPr/>
        </p:nvSpPr>
        <p:spPr>
          <a:xfrm>
            <a:off x="609600" y="2990850"/>
            <a:ext cx="85725" cy="85725"/>
          </a:xfrm>
          <a:prstGeom prst="ellipse">
            <a:avLst/>
          </a:prstGeom>
          <a:solidFill>
            <a:srgbClr val="0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200" y="291465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465050"/>
                </a:solidFill>
                <a:latin typeface="Segoe UI"/>
              </a:rPr>
              <a:t>Nie zostawiamy pustego systemu — pierwsza partia dokumentów wgrana i sprawdzona przez nas</a:t>
            </a:r>
          </a:p>
        </p:txBody>
      </p:sp>
      <p:sp>
        <p:nvSpPr>
          <p:cNvPr id="18" name="Oval 17"/>
          <p:cNvSpPr/>
          <p:nvPr/>
        </p:nvSpPr>
        <p:spPr>
          <a:xfrm>
            <a:off x="609600" y="3429000"/>
            <a:ext cx="85725" cy="85725"/>
          </a:xfrm>
          <a:prstGeom prst="ellipse">
            <a:avLst/>
          </a:prstGeom>
          <a:solidFill>
            <a:srgbClr val="0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200" y="335280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465050"/>
                </a:solidFill>
                <a:latin typeface="Segoe UI"/>
              </a:rPr>
              <a:t>Wzorce pod Wasze pisma — system sam wyciąga numer, datę i osobę zatwierdzającą</a:t>
            </a:r>
          </a:p>
        </p:txBody>
      </p:sp>
      <p:sp>
        <p:nvSpPr>
          <p:cNvPr id="20" name="Oval 19"/>
          <p:cNvSpPr/>
          <p:nvPr/>
        </p:nvSpPr>
        <p:spPr>
          <a:xfrm>
            <a:off x="609600" y="3867150"/>
            <a:ext cx="85725" cy="85725"/>
          </a:xfrm>
          <a:prstGeom prst="ellipse">
            <a:avLst/>
          </a:prstGeom>
          <a:solidFill>
            <a:srgbClr val="0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379095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465050"/>
                </a:solidFill>
                <a:latin typeface="Segoe UI"/>
              </a:rPr>
              <a:t>Wsparcie miesięczne — aktualizacje, opieka nad jakością odpowiedzi, nowe rodzaje dokumentów</a:t>
            </a:r>
          </a:p>
        </p:txBody>
      </p:sp>
      <p:sp>
        <p:nvSpPr>
          <p:cNvPr id="22" name="Oval 21"/>
          <p:cNvSpPr/>
          <p:nvPr/>
        </p:nvSpPr>
        <p:spPr>
          <a:xfrm>
            <a:off x="609600" y="4305300"/>
            <a:ext cx="85725" cy="85725"/>
          </a:xfrm>
          <a:prstGeom prst="ellipse">
            <a:avLst/>
          </a:prstGeom>
          <a:solidFill>
            <a:srgbClr val="0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200" y="4229100"/>
            <a:ext cx="10744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465050"/>
                </a:solidFill>
                <a:latin typeface="Segoe UI"/>
              </a:rPr>
              <a:t>Kierunek rozwoju: powiązania między dokumentami i wersja obowiązująca, podgląd PDF na cytowanej stronie, logowanie kontem domenowym, integracja z systemami dziedzinowymi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600" y="5676900"/>
            <a:ext cx="10972800" cy="590550"/>
          </a:xfrm>
          <a:prstGeom prst="roundRect">
            <a:avLst>
              <a:gd name="adj" fmla="val 6000"/>
            </a:avLst>
          </a:prstGeom>
          <a:solidFill>
            <a:srgbClr val="244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9550" tIns="0"/>
          <a:lstStyle/>
          <a:p>
            <a:pPr algn="l">
              <a:lnSpc>
                <a:spcPct val="125000"/>
              </a:lnSpc>
            </a:pPr>
            <a:r>
              <a:rPr sz="1650" b="1">
                <a:solidFill>
                  <a:srgbClr val="FFFFFF"/>
                </a:solidFill>
                <a:latin typeface="Segoe UI"/>
              </a:rPr>
              <a:t>Przychodzimy z Waszymi dokumentami już w środku.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5676900"/>
            <a:ext cx="57150" cy="590550"/>
          </a:xfrm>
          <a:prstGeom prst="rect">
            <a:avLst/>
          </a:prstGeom>
          <a:gradFill rotWithShape="1">
            <a:gsLst>
              <a:gs pos="0">
                <a:srgbClr val="2448C8"/>
              </a:gs>
              <a:gs pos="100000">
                <a:srgbClr val="09AFA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9525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 b="1">
                <a:solidFill>
                  <a:srgbClr val="2448C8"/>
                </a:solidFill>
                <a:latin typeface="Segoe UI"/>
              </a:rPr>
              <a:t>Warunki i następny krok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123950"/>
            <a:ext cx="914400" cy="47625"/>
          </a:xfrm>
          <a:prstGeom prst="rect">
            <a:avLst/>
          </a:prstGeom>
          <a:gradFill rotWithShape="1">
            <a:gsLst>
              <a:gs pos="0">
                <a:srgbClr val="2448C8"/>
              </a:gs>
              <a:gs pos="100000">
                <a:srgbClr val="09AFA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polmedi-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3700" y="419100"/>
            <a:ext cx="1028700" cy="34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5341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950" b="0">
                <a:solidFill>
                  <a:srgbClr val="9AA5A5"/>
                </a:solidFill>
                <a:latin typeface="Segoe UI"/>
              </a:rPr>
              <a:t>EDMund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653415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9AA5A5"/>
                </a:solidFill>
                <a:latin typeface="Segoe UI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600" y="1619250"/>
          <a:ext cx="10972800" cy="2190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0"/>
                <a:gridCol w="2590800"/>
              </a:tblGrid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7B8585"/>
                          </a:solidFill>
                          <a:latin typeface="Segoe UI"/>
                        </a:rPr>
                        <a:t>POZYCJA</a:t>
                      </a:r>
                    </a:p>
                  </a:txBody>
                  <a:tcPr marL="95250" marR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7B8585"/>
                          </a:solidFill>
                          <a:latin typeface="Segoe UI"/>
                        </a:rPr>
                        <a:t>NETTO</a:t>
                      </a:r>
                    </a:p>
                  </a:txBody>
                  <a:tcPr marL="95250" marR="9525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65050"/>
                          </a:solidFill>
                          <a:latin typeface="Segoe UI"/>
                        </a:rPr>
                        <a:t>Sprzęt: serwer AI z 128 GB pamięci i dyskiem 4 TB</a:t>
                      </a:r>
                    </a:p>
                  </a:txBody>
                  <a:tcPr marL="95250" marR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65050"/>
                          </a:solidFill>
                          <a:latin typeface="Segoe UI"/>
                        </a:rPr>
                        <a:t>20 000 zł</a:t>
                      </a:r>
                    </a:p>
                  </a:txBody>
                  <a:tcPr marL="95250" marR="9525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65050"/>
                          </a:solidFill>
                          <a:latin typeface="Segoe UI"/>
                        </a:rPr>
                        <a:t>Dostawa i wdrożenie oprogramowania</a:t>
                      </a:r>
                    </a:p>
                  </a:txBody>
                  <a:tcPr marL="95250" marR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65050"/>
                          </a:solidFill>
                          <a:latin typeface="Segoe UI"/>
                        </a:rPr>
                        <a:t>25 000 zł</a:t>
                      </a:r>
                    </a:p>
                  </a:txBody>
                  <a:tcPr marL="95250" marR="9525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65050"/>
                          </a:solidFill>
                          <a:latin typeface="Segoe UI"/>
                        </a:rPr>
                        <a:t>Wsparcie i rozwój</a:t>
                      </a:r>
                    </a:p>
                  </a:txBody>
                  <a:tcPr marL="95250" marR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65050"/>
                          </a:solidFill>
                          <a:latin typeface="Segoe UI"/>
                        </a:rPr>
                        <a:t>1 000 zł / mies.</a:t>
                      </a:r>
                    </a:p>
                  </a:txBody>
                  <a:tcPr marL="95250" marR="9525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448C8"/>
                          </a:solidFill>
                          <a:latin typeface="Segoe UI"/>
                        </a:rPr>
                        <a:t>Rok pierwszy łącznie</a:t>
                      </a:r>
                    </a:p>
                  </a:txBody>
                  <a:tcPr marL="95250" marR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2448C8"/>
                          </a:solidFill>
                          <a:latin typeface="Segoe UI"/>
                        </a:rPr>
                        <a:t>57 000 zł</a:t>
                      </a:r>
                    </a:p>
                  </a:txBody>
                  <a:tcPr marL="95250" marR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09600" y="3943350"/>
            <a:ext cx="28575" cy="495300"/>
          </a:xfrm>
          <a:prstGeom prst="rect">
            <a:avLst/>
          </a:prstGeom>
          <a:solidFill>
            <a:srgbClr val="09A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3943350"/>
            <a:ext cx="33655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50" b="0">
                <a:solidFill>
                  <a:srgbClr val="465050"/>
                </a:solidFill>
                <a:latin typeface="Segoe UI"/>
              </a:rPr>
              <a:t>Bez opłat za użytkownika i bez opłat za liczbę dokumentów.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56100" y="3943350"/>
            <a:ext cx="28575" cy="495300"/>
          </a:xfrm>
          <a:prstGeom prst="rect">
            <a:avLst/>
          </a:prstGeom>
          <a:solidFill>
            <a:srgbClr val="09A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0400" y="3943350"/>
            <a:ext cx="33655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50" b="0">
                <a:solidFill>
                  <a:srgbClr val="465050"/>
                </a:solidFill>
                <a:latin typeface="Segoe UI"/>
              </a:rPr>
              <a:t>Sprzęt zostaje Wasz — nie płacicie abonamentu za dostęp do własnych danych.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02600" y="3943350"/>
            <a:ext cx="28575" cy="495300"/>
          </a:xfrm>
          <a:prstGeom prst="rect">
            <a:avLst/>
          </a:prstGeom>
          <a:solidFill>
            <a:srgbClr val="09A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6900" y="3943350"/>
            <a:ext cx="33655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50" b="0">
                <a:solidFill>
                  <a:srgbClr val="465050"/>
                </a:solidFill>
                <a:latin typeface="Segoe UI"/>
              </a:rPr>
              <a:t>Trzy lata użytkowania: 81 000 zł netto.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600" y="5676900"/>
            <a:ext cx="10972800" cy="590550"/>
          </a:xfrm>
          <a:prstGeom prst="roundRect">
            <a:avLst>
              <a:gd name="adj" fmla="val 6000"/>
            </a:avLst>
          </a:prstGeom>
          <a:solidFill>
            <a:srgbClr val="244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9550" tIns="0"/>
          <a:lstStyle/>
          <a:p>
            <a:pPr algn="l">
              <a:lnSpc>
                <a:spcPct val="125000"/>
              </a:lnSpc>
            </a:pPr>
            <a:r>
              <a:rPr sz="1650" b="1">
                <a:solidFill>
                  <a:srgbClr val="FFFFFF"/>
                </a:solidFill>
                <a:latin typeface="Segoe UI"/>
              </a:rPr>
              <a:t>Następny krok: dwutygodniowe uruchomienie próbne na Waszych dokumentach — u Was, bez zobowiązania.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5676900"/>
            <a:ext cx="57150" cy="590550"/>
          </a:xfrm>
          <a:prstGeom prst="rect">
            <a:avLst/>
          </a:prstGeom>
          <a:gradFill rotWithShape="1">
            <a:gsLst>
              <a:gs pos="0">
                <a:srgbClr val="2448C8"/>
              </a:gs>
              <a:gs pos="100000">
                <a:srgbClr val="09AFA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9525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 b="1">
                <a:solidFill>
                  <a:srgbClr val="2448C8"/>
                </a:solidFill>
                <a:latin typeface="Segoe UI"/>
              </a:rPr>
              <a:t>Zapraszamy do kontaktu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123950"/>
            <a:ext cx="914400" cy="47625"/>
          </a:xfrm>
          <a:prstGeom prst="rect">
            <a:avLst/>
          </a:prstGeom>
          <a:gradFill rotWithShape="1">
            <a:gsLst>
              <a:gs pos="0">
                <a:srgbClr val="2448C8"/>
              </a:gs>
              <a:gs pos="100000">
                <a:srgbClr val="09AFA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polmedi-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3700" y="419100"/>
            <a:ext cx="1028700" cy="34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5341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950" b="0">
                <a:solidFill>
                  <a:srgbClr val="9AA5A5"/>
                </a:solidFill>
                <a:latin typeface="Segoe UI"/>
              </a:rPr>
              <a:t>EDMund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653415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9AA5A5"/>
                </a:solidFill>
                <a:latin typeface="Segoe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619250"/>
            <a:ext cx="57150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700" b="0">
                <a:solidFill>
                  <a:srgbClr val="465050"/>
                </a:solidFill>
                <a:latin typeface="Segoe UI"/>
              </a:rPr>
              <a:t>Czekają na Was: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1981200"/>
            <a:ext cx="5353050" cy="125730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1981200"/>
            <a:ext cx="57150" cy="1257300"/>
          </a:xfrm>
          <a:prstGeom prst="rect">
            <a:avLst/>
          </a:prstGeom>
          <a:solidFill>
            <a:srgbClr val="0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3450" y="2266950"/>
            <a:ext cx="685800" cy="685800"/>
          </a:xfrm>
          <a:prstGeom prst="ellipse">
            <a:avLst/>
          </a:prstGeom>
          <a:solidFill>
            <a:srgbClr val="244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9750" y="2247900"/>
            <a:ext cx="39243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900" b="1">
                <a:solidFill>
                  <a:srgbClr val="2448C8"/>
                </a:solidFill>
                <a:latin typeface="Segoe UI"/>
              </a:rPr>
              <a:t>Piotr Piątek</a:t>
            </a:r>
          </a:p>
          <a:p>
            <a:pPr>
              <a:lnSpc>
                <a:spcPct val="125000"/>
              </a:lnSpc>
            </a:pPr>
            <a:r>
              <a:rPr sz="1250" b="0">
                <a:solidFill>
                  <a:srgbClr val="7B8585"/>
                </a:solidFill>
                <a:latin typeface="Segoe UI"/>
              </a:rPr>
              <a:t>wyceny, umowa</a:t>
            </a:r>
          </a:p>
          <a:p>
            <a:pPr>
              <a:lnSpc>
                <a:spcPct val="130000"/>
              </a:lnSpc>
            </a:pPr>
            <a:r>
              <a:rPr sz="1800" b="1">
                <a:solidFill>
                  <a:srgbClr val="0A9A9A"/>
                </a:solidFill>
                <a:latin typeface="Segoe UI"/>
              </a:rPr>
              <a:t>tel. 501 674 303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9350" y="1981200"/>
            <a:ext cx="5353050" cy="125730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9350" y="1981200"/>
            <a:ext cx="57150" cy="1257300"/>
          </a:xfrm>
          <a:prstGeom prst="rect">
            <a:avLst/>
          </a:prstGeom>
          <a:solidFill>
            <a:srgbClr val="0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53200" y="2266950"/>
            <a:ext cx="685800" cy="685800"/>
          </a:xfrm>
          <a:prstGeom prst="ellipse">
            <a:avLst/>
          </a:prstGeom>
          <a:solidFill>
            <a:srgbClr val="244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MC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0" y="2247900"/>
            <a:ext cx="39243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900" b="1">
                <a:solidFill>
                  <a:srgbClr val="2448C8"/>
                </a:solidFill>
                <a:latin typeface="Segoe UI"/>
              </a:rPr>
              <a:t>Marcin Cieślak</a:t>
            </a:r>
          </a:p>
          <a:p>
            <a:pPr>
              <a:lnSpc>
                <a:spcPct val="125000"/>
              </a:lnSpc>
            </a:pPr>
            <a:r>
              <a:rPr sz="1250" b="0">
                <a:solidFill>
                  <a:srgbClr val="7B8585"/>
                </a:solidFill>
                <a:latin typeface="Segoe UI"/>
              </a:rPr>
              <a:t>sprawy techniczne</a:t>
            </a:r>
          </a:p>
          <a:p>
            <a:pPr>
              <a:lnSpc>
                <a:spcPct val="130000"/>
              </a:lnSpc>
            </a:pPr>
            <a:r>
              <a:rPr sz="1800" b="1">
                <a:solidFill>
                  <a:srgbClr val="0A9A9A"/>
                </a:solidFill>
                <a:latin typeface="Segoe UI"/>
              </a:rPr>
              <a:t>tel. 602 220 693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342900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" y="3581400"/>
            <a:ext cx="76200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50" b="1">
                <a:solidFill>
                  <a:srgbClr val="2448C8"/>
                </a:solidFill>
                <a:latin typeface="Segoe UI"/>
              </a:rPr>
              <a:t>Polmedi Group sp. z o.o. · Poznań · polmedi.com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600" y="5676900"/>
            <a:ext cx="10972800" cy="590550"/>
          </a:xfrm>
          <a:prstGeom prst="roundRect">
            <a:avLst>
              <a:gd name="adj" fmla="val 6000"/>
            </a:avLst>
          </a:prstGeom>
          <a:solidFill>
            <a:srgbClr val="244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9550" tIns="0"/>
          <a:lstStyle/>
          <a:p>
            <a:pPr algn="l">
              <a:lnSpc>
                <a:spcPct val="125000"/>
              </a:lnSpc>
            </a:pPr>
            <a:r>
              <a:rPr sz="1650" b="1">
                <a:solidFill>
                  <a:srgbClr val="FFFFFF"/>
                </a:solidFill>
                <a:latin typeface="Segoe UI"/>
              </a:rPr>
              <a:t>Jesteśmy tu dla Was.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" y="5676900"/>
            <a:ext cx="57150" cy="590550"/>
          </a:xfrm>
          <a:prstGeom prst="rect">
            <a:avLst/>
          </a:prstGeom>
          <a:gradFill rotWithShape="1">
            <a:gsLst>
              <a:gs pos="0">
                <a:srgbClr val="2448C8"/>
              </a:gs>
              <a:gs pos="100000">
                <a:srgbClr val="09AFA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